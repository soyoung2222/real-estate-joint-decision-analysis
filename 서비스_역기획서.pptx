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b7f9dbc5c14383" /><Relationship Type="http://schemas.openxmlformats.org/officeDocument/2006/relationships/extended-properties" Target="/docProps/app.xml" Id="Re70d6308208d4255" /><Relationship Type="http://schemas.openxmlformats.org/officeDocument/2006/relationships/officeDocument" Target="/ppt/presentation.xml" Id="Re96ec735709c42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71984493b14c2b"/>
  </p:sldMasterIdLst>
  <p:notesMasterIdLst>
    <p:notesMasterId xmlns:r="http://schemas.openxmlformats.org/officeDocument/2006/relationships" r:id="R0399dd7291f745e1"/>
  </p:notesMasterIdLst>
  <p:sldIdLst>
    <p:sldId xmlns:r="http://schemas.openxmlformats.org/officeDocument/2006/relationships" id="256" r:id="Raa8202adc8eb49d6"/>
    <p:sldId xmlns:r="http://schemas.openxmlformats.org/officeDocument/2006/relationships" id="257" r:id="Re36640e632444885"/>
    <p:sldId xmlns:r="http://schemas.openxmlformats.org/officeDocument/2006/relationships" id="258" r:id="R2cffa80a0b36461a"/>
    <p:sldId xmlns:r="http://schemas.openxmlformats.org/officeDocument/2006/relationships" id="259" r:id="Rde579d7da2b24eef"/>
    <p:sldId xmlns:r="http://schemas.openxmlformats.org/officeDocument/2006/relationships" id="260" r:id="Rde6a5f080bc04e9e"/>
    <p:sldId xmlns:r="http://schemas.openxmlformats.org/officeDocument/2006/relationships" id="261" r:id="Re17522c317844795"/>
    <p:sldId xmlns:r="http://schemas.openxmlformats.org/officeDocument/2006/relationships" id="262" r:id="Ra72295bbbbd444c8"/>
    <p:sldId xmlns:r="http://schemas.openxmlformats.org/officeDocument/2006/relationships" id="263" r:id="R7352746f2a714217"/>
    <p:sldId xmlns:r="http://schemas.openxmlformats.org/officeDocument/2006/relationships" id="264" r:id="R5635d073a21e4103"/>
    <p:sldId xmlns:r="http://schemas.openxmlformats.org/officeDocument/2006/relationships" id="265" r:id="R123499334b484270"/>
    <p:sldId xmlns:r="http://schemas.openxmlformats.org/officeDocument/2006/relationships" id="266" r:id="Rda7f0dffb1754987"/>
    <p:sldId xmlns:r="http://schemas.openxmlformats.org/officeDocument/2006/relationships" id="267" r:id="Rae9e297889dc435c"/>
    <p:sldId xmlns:r="http://schemas.openxmlformats.org/officeDocument/2006/relationships" id="268" r:id="R4bc4ebc9fc5b4bf9"/>
    <p:sldId xmlns:r="http://schemas.openxmlformats.org/officeDocument/2006/relationships" id="269" r:id="Ree14e30a3ba142d0"/>
    <p:sldId xmlns:r="http://schemas.openxmlformats.org/officeDocument/2006/relationships" id="270" r:id="Rb9f1b218029849fd"/>
    <p:sldId xmlns:r="http://schemas.openxmlformats.org/officeDocument/2006/relationships" id="271" r:id="R7159b408ec234630"/>
    <p:sldId xmlns:r="http://schemas.openxmlformats.org/officeDocument/2006/relationships" id="272" r:id="R9502eddbefc64b2b"/>
    <p:sldId xmlns:r="http://schemas.openxmlformats.org/officeDocument/2006/relationships" id="273" r:id="R8c242932e9c2408a"/>
    <p:sldId xmlns:r="http://schemas.openxmlformats.org/officeDocument/2006/relationships" id="274" r:id="R244f22d18cb04dfc"/>
    <p:sldId xmlns:r="http://schemas.openxmlformats.org/officeDocument/2006/relationships" id="275" r:id="R41bb9c089c574158"/>
    <p:sldId xmlns:r="http://schemas.openxmlformats.org/officeDocument/2006/relationships" id="276" r:id="R5c30d01d9e8b4792"/>
    <p:sldId xmlns:r="http://schemas.openxmlformats.org/officeDocument/2006/relationships" id="277" r:id="R4f235bf90f1245e9"/>
    <p:sldId xmlns:r="http://schemas.openxmlformats.org/officeDocument/2006/relationships" id="278" r:id="R60e0e09fcef24e0d"/>
    <p:sldId xmlns:r="http://schemas.openxmlformats.org/officeDocument/2006/relationships" id="279" r:id="R9c547088a99d43f3"/>
    <p:sldId xmlns:r="http://schemas.openxmlformats.org/officeDocument/2006/relationships" id="280" r:id="R801c9905091e41fa"/>
    <p:sldId xmlns:r="http://schemas.openxmlformats.org/officeDocument/2006/relationships" id="281" r:id="R79ad866ec1074148"/>
    <p:sldId xmlns:r="http://schemas.openxmlformats.org/officeDocument/2006/relationships" id="282" r:id="Rf37564b224214838"/>
    <p:sldId xmlns:r="http://schemas.openxmlformats.org/officeDocument/2006/relationships" id="283" r:id="Rfedfad83694848e0"/>
    <p:sldId xmlns:r="http://schemas.openxmlformats.org/officeDocument/2006/relationships" id="284" r:id="Ra294b963095c4ae8"/>
    <p:sldId xmlns:r="http://schemas.openxmlformats.org/officeDocument/2006/relationships" id="285" r:id="Rcc427859a37649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9dca088fc2459f" /><Relationship Type="http://schemas.openxmlformats.org/officeDocument/2006/relationships/slideMaster" Target="/ppt/slideMasters/slideMaster1.xml" Id="R2d71984493b14c2b" /><Relationship Type="http://schemas.openxmlformats.org/officeDocument/2006/relationships/notesMaster" Target="/ppt/notesMasters/notesMaster1.xml" Id="R0399dd7291f745e1" /><Relationship Type="http://schemas.openxmlformats.org/officeDocument/2006/relationships/presProps" Target="/ppt/presProps.xml" Id="Rab855a7e5f4e45f2" /><Relationship Type="http://schemas.openxmlformats.org/officeDocument/2006/relationships/tableStyles" Target="/ppt/tableStyles.xml" Id="Rdd3e4eb18963431b" /><Relationship Type="http://schemas.openxmlformats.org/officeDocument/2006/relationships/slide" Target="/ppt/slides/slide1.xml" Id="Raa8202adc8eb49d6" /><Relationship Type="http://schemas.openxmlformats.org/officeDocument/2006/relationships/slide" Target="/ppt/slides/slide2.xml" Id="Re36640e632444885" /><Relationship Type="http://schemas.openxmlformats.org/officeDocument/2006/relationships/slide" Target="/ppt/slides/slide3.xml" Id="R2cffa80a0b36461a" /><Relationship Type="http://schemas.openxmlformats.org/officeDocument/2006/relationships/slide" Target="/ppt/slides/slide4.xml" Id="Rde579d7da2b24eef" /><Relationship Type="http://schemas.openxmlformats.org/officeDocument/2006/relationships/slide" Target="/ppt/slides/slide5.xml" Id="Rde6a5f080bc04e9e" /><Relationship Type="http://schemas.openxmlformats.org/officeDocument/2006/relationships/slide" Target="/ppt/slides/slide6.xml" Id="Re17522c317844795" /><Relationship Type="http://schemas.openxmlformats.org/officeDocument/2006/relationships/slide" Target="/ppt/slides/slide7.xml" Id="Ra72295bbbbd444c8" /><Relationship Type="http://schemas.openxmlformats.org/officeDocument/2006/relationships/slide" Target="/ppt/slides/slide8.xml" Id="R7352746f2a714217" /><Relationship Type="http://schemas.openxmlformats.org/officeDocument/2006/relationships/slide" Target="/ppt/slides/slide9.xml" Id="R5635d073a21e4103" /><Relationship Type="http://schemas.openxmlformats.org/officeDocument/2006/relationships/slide" Target="/ppt/slides/slide10.xml" Id="R123499334b484270" /><Relationship Type="http://schemas.openxmlformats.org/officeDocument/2006/relationships/slide" Target="/ppt/slides/slide11.xml" Id="Rda7f0dffb1754987" /><Relationship Type="http://schemas.openxmlformats.org/officeDocument/2006/relationships/slide" Target="/ppt/slides/slide12.xml" Id="Rae9e297889dc435c" /><Relationship Type="http://schemas.openxmlformats.org/officeDocument/2006/relationships/slide" Target="/ppt/slides/slide13.xml" Id="R4bc4ebc9fc5b4bf9" /><Relationship Type="http://schemas.openxmlformats.org/officeDocument/2006/relationships/slide" Target="/ppt/slides/slide14.xml" Id="Ree14e30a3ba142d0" /><Relationship Type="http://schemas.openxmlformats.org/officeDocument/2006/relationships/slide" Target="/ppt/slides/slide15.xml" Id="Rb9f1b218029849fd" /><Relationship Type="http://schemas.openxmlformats.org/officeDocument/2006/relationships/slide" Target="/ppt/slides/slide16.xml" Id="R7159b408ec234630" /><Relationship Type="http://schemas.openxmlformats.org/officeDocument/2006/relationships/slide" Target="/ppt/slides/slide17.xml" Id="R9502eddbefc64b2b" /><Relationship Type="http://schemas.openxmlformats.org/officeDocument/2006/relationships/slide" Target="/ppt/slides/slide18.xml" Id="R8c242932e9c2408a" /><Relationship Type="http://schemas.openxmlformats.org/officeDocument/2006/relationships/slide" Target="/ppt/slides/slide19.xml" Id="R244f22d18cb04dfc" /><Relationship Type="http://schemas.openxmlformats.org/officeDocument/2006/relationships/slide" Target="/ppt/slides/slide20.xml" Id="R41bb9c089c574158" /><Relationship Type="http://schemas.openxmlformats.org/officeDocument/2006/relationships/slide" Target="/ppt/slides/slide21.xml" Id="R5c30d01d9e8b4792" /><Relationship Type="http://schemas.openxmlformats.org/officeDocument/2006/relationships/slide" Target="/ppt/slides/slide22.xml" Id="R4f235bf90f1245e9" /><Relationship Type="http://schemas.openxmlformats.org/officeDocument/2006/relationships/slide" Target="/ppt/slides/slide23.xml" Id="R60e0e09fcef24e0d" /><Relationship Type="http://schemas.openxmlformats.org/officeDocument/2006/relationships/slide" Target="/ppt/slides/slide24.xml" Id="R9c547088a99d43f3" /><Relationship Type="http://schemas.openxmlformats.org/officeDocument/2006/relationships/slide" Target="/ppt/slides/slide25.xml" Id="R801c9905091e41fa" /><Relationship Type="http://schemas.openxmlformats.org/officeDocument/2006/relationships/slide" Target="/ppt/slides/slide26.xml" Id="R79ad866ec1074148" /><Relationship Type="http://schemas.openxmlformats.org/officeDocument/2006/relationships/slide" Target="/ppt/slides/slide27.xml" Id="Rf37564b224214838" /><Relationship Type="http://schemas.openxmlformats.org/officeDocument/2006/relationships/slide" Target="/ppt/slides/slide28.xml" Id="Rfedfad83694848e0" /><Relationship Type="http://schemas.openxmlformats.org/officeDocument/2006/relationships/slide" Target="/ppt/slides/slide29.xml" Id="Ra294b963095c4ae8" /><Relationship Type="http://schemas.openxmlformats.org/officeDocument/2006/relationships/slide" Target="/ppt/slides/slide30.xml" Id="Rcc427859a37649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26c8f21ce643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582956b61b4105" /><Relationship Type="http://schemas.openxmlformats.org/officeDocument/2006/relationships/notesMaster" Target="/ppt/notesMasters/notesMaster1.xml" Id="Rd155a999411a49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25bd42e05b4dee" /><Relationship Type="http://schemas.openxmlformats.org/officeDocument/2006/relationships/notesMaster" Target="/ppt/notesMasters/notesMaster1.xml" Id="Rc1783b9617804a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2b6f943ed3437b" /><Relationship Type="http://schemas.openxmlformats.org/officeDocument/2006/relationships/notesMaster" Target="/ppt/notesMasters/notesMaster1.xml" Id="R516dbc8b251348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55cbdbfc804fb5" /><Relationship Type="http://schemas.openxmlformats.org/officeDocument/2006/relationships/notesMaster" Target="/ppt/notesMasters/notesMaster1.xml" Id="R2829c071887844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cf8b64fbaa4aef" /><Relationship Type="http://schemas.openxmlformats.org/officeDocument/2006/relationships/notesMaster" Target="/ppt/notesMasters/notesMaster1.xml" Id="R1d2bb2ab36244d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497e292a99473b" /><Relationship Type="http://schemas.openxmlformats.org/officeDocument/2006/relationships/notesMaster" Target="/ppt/notesMasters/notesMaster1.xml" Id="R134f79ba631547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58c70ffe474062" /><Relationship Type="http://schemas.openxmlformats.org/officeDocument/2006/relationships/notesMaster" Target="/ppt/notesMasters/notesMaster1.xml" Id="Rc13a770edc6b4f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711bf036404404" /><Relationship Type="http://schemas.openxmlformats.org/officeDocument/2006/relationships/notesMaster" Target="/ppt/notesMasters/notesMaster1.xml" Id="Re488aa50cd5548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c6ad82a5984c3f" /><Relationship Type="http://schemas.openxmlformats.org/officeDocument/2006/relationships/notesMaster" Target="/ppt/notesMasters/notesMaster1.xml" Id="R2f319d3d848c41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1c3b1fd08b42b9" /><Relationship Type="http://schemas.openxmlformats.org/officeDocument/2006/relationships/notesMaster" Target="/ppt/notesMasters/notesMaster1.xml" Id="R0d8b10d6f7f648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047cc750174071" /><Relationship Type="http://schemas.openxmlformats.org/officeDocument/2006/relationships/notesMaster" Target="/ppt/notesMasters/notesMaster1.xml" Id="R33660df43a524d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9e4469c2414864" /><Relationship Type="http://schemas.openxmlformats.org/officeDocument/2006/relationships/notesMaster" Target="/ppt/notesMasters/notesMaster1.xml" Id="R2fe6a34bc32343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fe15a08fbb4a3b" /><Relationship Type="http://schemas.openxmlformats.org/officeDocument/2006/relationships/notesMaster" Target="/ppt/notesMasters/notesMaster1.xml" Id="R971a1c6dd50d42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76d03d899a4e1c" /><Relationship Type="http://schemas.openxmlformats.org/officeDocument/2006/relationships/notesMaster" Target="/ppt/notesMasters/notesMaster1.xml" Id="R89b70a3cb4824d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0074ad4d194c41" /><Relationship Type="http://schemas.openxmlformats.org/officeDocument/2006/relationships/notesMaster" Target="/ppt/notesMasters/notesMaster1.xml" Id="Rd85a22d0f4e5468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adab8490de43ec" /><Relationship Type="http://schemas.openxmlformats.org/officeDocument/2006/relationships/notesMaster" Target="/ppt/notesMasters/notesMaster1.xml" Id="R72ae7aab114d4b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398e211d194701" /><Relationship Type="http://schemas.openxmlformats.org/officeDocument/2006/relationships/notesMaster" Target="/ppt/notesMasters/notesMaster1.xml" Id="Re72af11fb9e845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75ec3520b34549" /><Relationship Type="http://schemas.openxmlformats.org/officeDocument/2006/relationships/notesMaster" Target="/ppt/notesMasters/notesMaster1.xml" Id="R6373fd55270d49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a036300d454935" /><Relationship Type="http://schemas.openxmlformats.org/officeDocument/2006/relationships/notesMaster" Target="/ppt/notesMasters/notesMaster1.xml" Id="R0b06375fc47540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eafcbde4e1048e8" /><Relationship Type="http://schemas.openxmlformats.org/officeDocument/2006/relationships/notesMaster" Target="/ppt/notesMasters/notesMaster1.xml" Id="Rc817d443cbf94f2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ce520bba774e0b" /><Relationship Type="http://schemas.openxmlformats.org/officeDocument/2006/relationships/notesMaster" Target="/ppt/notesMasters/notesMaster1.xml" Id="Rb0216a8db7bf4a4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7b88632ddee48c0" /><Relationship Type="http://schemas.openxmlformats.org/officeDocument/2006/relationships/notesMaster" Target="/ppt/notesMasters/notesMaster1.xml" Id="Re16218c6cc444a6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8ff5e528791474f" /><Relationship Type="http://schemas.openxmlformats.org/officeDocument/2006/relationships/notesMaster" Target="/ppt/notesMasters/notesMaster1.xml" Id="Rb271a85d19d640d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b33e74fab254ba5" /><Relationship Type="http://schemas.openxmlformats.org/officeDocument/2006/relationships/notesMaster" Target="/ppt/notesMasters/notesMaster1.xml" Id="R08f093ad15bc403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617342118bb4214" /><Relationship Type="http://schemas.openxmlformats.org/officeDocument/2006/relationships/notesMaster" Target="/ppt/notesMasters/notesMaster1.xml" Id="Ra29147189f8d4f6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36744fa7bde4994" /><Relationship Type="http://schemas.openxmlformats.org/officeDocument/2006/relationships/notesMaster" Target="/ppt/notesMasters/notesMaster1.xml" Id="R8e724817a8c548d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163c11a488a4781" /><Relationship Type="http://schemas.openxmlformats.org/officeDocument/2006/relationships/notesMaster" Target="/ppt/notesMasters/notesMaster1.xml" Id="R1ebde8cb7731432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8e30b0ae223441b" /><Relationship Type="http://schemas.openxmlformats.org/officeDocument/2006/relationships/notesMaster" Target="/ppt/notesMasters/notesMaster1.xml" Id="R48b69cde8983461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2e8efe6882044c7" /><Relationship Type="http://schemas.openxmlformats.org/officeDocument/2006/relationships/notesMaster" Target="/ppt/notesMasters/notesMaster1.xml" Id="R70bbaed2c391478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1840259b885446c" /><Relationship Type="http://schemas.openxmlformats.org/officeDocument/2006/relationships/notesMaster" Target="/ppt/notesMasters/notesMaster1.xml" Id="R7c616a5c03d046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출발점은 검색이 아니라 이미 저장한 관심매물이고, 결과는 정답 1개가 아니라 둘이 정한 방문 후보 2개다.</a:t>
            </a:r>
          </a:p>
          <a:p xmlns:a="http://schemas.openxmlformats.org/drawingml/2006/main">
            <a:r>
              <a:t>과장 금지: AI가 최적의 집을 고른다거나 결정 시간을 단축한다고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docs/11-decision-status.md</a:t>
            </a:r>
          </a:p>
          <a:p xmlns:a="http://schemas.openxmlformats.org/drawingml/2006/main">
            <a:r>
              <a:t>Local artifact: value-proposition_20260820.md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뒤의 28장이 이 다섯 문장의 근거와 한계를 차례로 해명한다.</a:t>
            </a:r>
          </a:p>
          <a:p xmlns:a="http://schemas.openxmlformats.org/drawingml/2006/main">
            <a:r>
              <a:t>과장 금지: 시장성과 제품 효과가 이미 검증됐다고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docs/01-team-brief.md</a:t>
            </a:r>
          </a:p>
          <a:p xmlns:a="http://schemas.openxmlformats.org/drawingml/2006/main">
            <a:r>
              <a:t>Handoff ZIP: docs/02-hypotheses.md</a:t>
            </a:r>
          </a:p>
          <a:p xmlns:a="http://schemas.openxmlformats.org/drawingml/2006/main">
            <a:r>
              <a:t>Handoff ZIP: docs/11-decision-status.md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주거 형태 무관은 제품 정의, 전·월세 2인은 초기 시장 범위다.</a:t>
            </a:r>
          </a:p>
          <a:p xmlns:a="http://schemas.openxmlformats.org/drawingml/2006/main">
            <a:r>
              <a:t>과장 금지: 전체 부동산 거래 시장을 TAM으로 보거나 계약·대출까지 통합한다고 확장하지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docs/01-team-brief.md</a:t>
            </a:r>
          </a:p>
          <a:p xmlns:a="http://schemas.openxmlformats.org/drawingml/2006/main">
            <a:r>
              <a:t>Handoff ZIP: docs/11-decision-status.md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경쟁자는 부동산 앱만이 아니라 이미 쓰는 카톡 공유 + 지도 확인 + 메모 비교다.</a:t>
            </a:r>
          </a:p>
          <a:p xmlns:a="http://schemas.openxmlformats.org/drawingml/2006/main">
            <a:r>
              <a:t>과장 금지: 카톡보다 빠르다거나 반응 속도를 실측 결과처럼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docs/01-team-brief.md</a:t>
            </a:r>
          </a:p>
          <a:p xmlns:a="http://schemas.openxmlformats.org/drawingml/2006/main">
            <a:r>
              <a:t>Handoff ZIP: docs/04-benchmarks.md</a:t>
            </a:r>
          </a:p>
          <a:p xmlns:a="http://schemas.openxmlformats.org/drawingml/2006/main">
            <a:r>
              <a:t>Handoff ZIP: docs/10-data-integration.md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SAM은 전체 공동 주거 시장이 아니라 공개 통계로 계산 가능한 하한이며 SOM은 시나리오다.</a:t>
            </a:r>
          </a:p>
          <a:p xmlns:a="http://schemas.openxmlformats.org/drawingml/2006/main">
            <a:r>
              <a:t>과장 금지: 54.6만 쌍이 실제 고객이거나 최소 20만 명을 확보할 수 있다고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docs/01-team-brief.md</a:t>
            </a:r>
          </a:p>
          <a:p xmlns:a="http://schemas.openxmlformats.org/drawingml/2006/main">
            <a:r>
              <a:t>Handoff ZIP: docs/03-evidence-log.md F13~F17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기회는 네이버의 강점인 저장과 문의 사이에서 공동 비교·결정이 빠지는 구간이다.</a:t>
            </a:r>
          </a:p>
          <a:p xmlns:a="http://schemas.openxmlformats.org/drawingml/2006/main">
            <a:r>
              <a:t>과장 금지: 관심매물 방치 비중이나 외부 도구 사용률을 확정 사실로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docs/01-team-brief.md</a:t>
            </a:r>
          </a:p>
          <a:p xmlns:a="http://schemas.openxmlformats.org/drawingml/2006/main">
            <a:r>
              <a:t>Handoff ZIP: docs/07-cjm-opportunity-score.md</a:t>
            </a:r>
          </a:p>
          <a:p xmlns:a="http://schemas.openxmlformats.org/drawingml/2006/main">
            <a:r>
              <a:t>Handoff ZIP: docs/10-data-integration.md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데이터가 충분해도 B가 들어오지 않으면 공동 의사결정 기능은 성립하지 않는다.</a:t>
            </a:r>
          </a:p>
          <a:p xmlns:a="http://schemas.openxmlformats.org/drawingml/2006/main">
            <a:r>
              <a:t>과장 금지: 네이버이기 때문에 초대 수락률이 높을 것이라고 가정하지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docs/01-team-brief.md</a:t>
            </a:r>
          </a:p>
          <a:p xmlns:a="http://schemas.openxmlformats.org/drawingml/2006/main">
            <a:r>
              <a:t>Handoff ZIP: docs/02-hypotheses.md</a:t>
            </a:r>
          </a:p>
          <a:p xmlns:a="http://schemas.openxmlformats.org/drawingml/2006/main">
            <a:r>
              <a:t>Handoff ZIP: docs/09-edge-cases.md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예비부부·신혼부부는 제품 전체 정의가 아니라 가설을 선명하게 볼 첫 검증 집단이다.</a:t>
            </a:r>
          </a:p>
          <a:p xmlns:a="http://schemas.openxmlformats.org/drawingml/2006/main">
            <a:r>
              <a:t>과장 금지: 주 고객이 신혼부부로 확정됐거나 룸메이트가 확장 시장이라고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docs/11-decision-status.md</a:t>
            </a:r>
          </a:p>
          <a:p xmlns:a="http://schemas.openxmlformats.org/drawingml/2006/main">
            <a:r>
              <a:t>Handoff ZIP: docs/02-hypotheses.md</a:t>
            </a:r>
          </a:p>
          <a:p xmlns:a="http://schemas.openxmlformats.org/drawingml/2006/main">
            <a:r>
              <a:t>Handoff ZIP: docs/03-evidence-log.md I12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비대칭은 진입 경로와 기기에만 있고 결정 권한에는 없어야 한다.</a:t>
            </a:r>
          </a:p>
          <a:p xmlns:a="http://schemas.openxmlformats.org/drawingml/2006/main">
            <a:r>
              <a:t>과장 금지: 자료에 없는 나이·직업·소득을 인터뷰 페르소나처럼 만들지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docs/08-screen-design.md</a:t>
            </a:r>
          </a:p>
          <a:p xmlns:a="http://schemas.openxmlformats.org/drawingml/2006/main">
            <a:r>
              <a:t>Handoff ZIP: docs/11-decision-status.md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핵심 Job은 매물을 더 모으는 것이 아니라 각 후보의 대가를 이해하고 방문 후보를 정하는 것이다.</a:t>
            </a:r>
          </a:p>
          <a:p xmlns:a="http://schemas.openxmlformats.org/drawingml/2006/main">
            <a:r>
              <a:t>과장 금지: 모든 커플이 동일 여정을 겪거나 이 기능이 관계 갈등을 줄인다고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docs/07-cjm-opportunity-score.md</a:t>
            </a:r>
          </a:p>
          <a:p xmlns:a="http://schemas.openxmlformats.org/drawingml/2006/main">
            <a:r>
              <a:t>Local artifact: value-proposition_20260820.md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정성적으로 상대 우선순위는 세울 수 있지만 Opportunity Score 숫자는 지어내지 않는다.</a:t>
            </a:r>
          </a:p>
          <a:p xmlns:a="http://schemas.openxmlformats.org/drawingml/2006/main">
            <a:r>
              <a:t>과장 금지: 의견 교환이 가장 불만족한 단계로 검증됐거나 OS가 특정 점수라고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docs/07-cjm-opportunity-score.md</a:t>
            </a:r>
          </a:p>
          <a:p xmlns:a="http://schemas.openxmlformats.org/drawingml/2006/main">
            <a:r>
              <a:t>Handoff ZIP: docs/01-team-brief.md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이 페이지는 문제를 약하게 만드는 것이 아니라 정확히 무엇을 검증해야 하는지 좁힌다.</a:t>
            </a:r>
          </a:p>
          <a:p xmlns:a="http://schemas.openxmlformats.org/drawingml/2006/main">
            <a:r>
              <a:t>과장 금지: 77%를 결정 지연 비율로 바꾸거나 국내 전·월세에 그대로 일반화하지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docs/03-evidence-log.md F1</a:t>
            </a:r>
          </a:p>
          <a:p xmlns:a="http://schemas.openxmlformats.org/drawingml/2006/main">
            <a:r>
              <a:t>Handoff ZIP: docs/03-evidence-log.md F26</a:t>
            </a:r>
          </a:p>
          <a:p xmlns:a="http://schemas.openxmlformats.org/drawingml/2006/main">
            <a:r>
              <a:t>Handoff ZIP: docs/02-hypotheses.md H2-b-2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공유 폴더만 만들면 정보의 문제만 해결한다. 차별점은 사람 간 조건 차이를 합산 없이 드러내는 것이다.</a:t>
            </a:r>
          </a:p>
          <a:p xmlns:a="http://schemas.openxmlformats.org/drawingml/2006/main">
            <a:r>
              <a:t>과장 금지: 조건 차이가 결정 지연의 원인으로 입증됐다고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docs/01-team-brief.md</a:t>
            </a:r>
          </a:p>
          <a:p xmlns:a="http://schemas.openxmlformats.org/drawingml/2006/main">
            <a:r>
              <a:t>Handoff ZIP: docs/02-hypotheses.md</a:t>
            </a:r>
          </a:p>
          <a:p xmlns:a="http://schemas.openxmlformats.org/drawingml/2006/main">
            <a:r>
              <a:t>Local artifact: prd_v0.1_20260820_with_AC.md §6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TwoKeys는 가장 가까운 선행 사례지만 선행 서비스의 존재가 우리 수요 증거는 아니다.</a:t>
            </a:r>
          </a:p>
          <a:p xmlns:a="http://schemas.openxmlformats.org/drawingml/2006/main">
            <a:r>
              <a:t>과장 금지: TwoKeys 성공·세계 최초·국내 앱 전부 1인용이라고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docs/04-benchmarks.md</a:t>
            </a:r>
          </a:p>
          <a:p xmlns:a="http://schemas.openxmlformats.org/drawingml/2006/main">
            <a:r>
              <a:t>Handoff ZIP: docs/03-evidence-log.md F2</a:t>
            </a:r>
          </a:p>
          <a:p xmlns:a="http://schemas.openxmlformats.org/drawingml/2006/main">
            <a:r>
              <a:t>Handoff ZIP: docs/03-evidence-log.md F27~F28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사례 나열이 아니라 초대·입력·비교·수렴의 작동 메커니즘을 분해한다.</a:t>
            </a:r>
          </a:p>
          <a:p xmlns:a="http://schemas.openxmlformats.org/drawingml/2006/main">
            <a:r>
              <a:t>과장 금지: 결혼준비 앱에서 초대가 검증됐으니 우리도 작동한다고 결론 내리지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docs/04-benchmarks.md</a:t>
            </a:r>
          </a:p>
          <a:p xmlns:a="http://schemas.openxmlformats.org/drawingml/2006/main">
            <a:r>
              <a:t>Handoff ZIP: docs/02-hypotheses.md</a:t>
            </a:r>
          </a:p>
          <a:p xmlns:a="http://schemas.openxmlformats.org/drawingml/2006/main">
            <a:r>
              <a:t>Handoff ZIP: docs/03-evidence-log.md F3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IPDAS는 제품 효과의 직접 근거가 아니라 균형 제시 설계의 참조 근거다.</a:t>
            </a:r>
          </a:p>
          <a:p xmlns:a="http://schemas.openxmlformats.org/drawingml/2006/main">
            <a:r>
              <a:t>과장 금지: 의료에서의 균형 인식 수치를 주거 제품 효과로 그대로 전이하지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https://journals.sagepub.com/doi/full/10.1177/0272989X211021397</a:t>
            </a:r>
          </a:p>
          <a:p xmlns:a="http://schemas.openxmlformats.org/drawingml/2006/main">
            <a:r>
              <a:t>https://www.ncbi.nlm.nih.gov/pmc/articles/PMC3986464/</a:t>
            </a:r>
          </a:p>
          <a:p xmlns:a="http://schemas.openxmlformats.org/drawingml/2006/main">
            <a:r>
              <a:t>Handoff ZIP: docs/05-tradeoff-patterns.md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유지할 것은 낮은 참여 마찰과 균형 비교이며, 단일 최적해 구조는 두 사람의 선택으로 변형한다.</a:t>
            </a:r>
          </a:p>
          <a:p xmlns:a="http://schemas.openxmlformats.org/drawingml/2006/main">
            <a:r>
              <a:t>과장 금지: 선행 사례가 있으므로 구현·사용성 리스크가 없다고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docs/04-benchmarks.md</a:t>
            </a:r>
          </a:p>
          <a:p xmlns:a="http://schemas.openxmlformats.org/drawingml/2006/main">
            <a:r>
              <a:t>Handoff ZIP: docs/05-tradeoff-patterns.md</a:t>
            </a:r>
          </a:p>
          <a:p xmlns:a="http://schemas.openxmlformats.org/drawingml/2006/main">
            <a:r>
              <a:t>Handoff ZIP: decisions/0001-no-total-score.md</a:t>
            </a:r>
          </a:p>
          <a:p xmlns:a="http://schemas.openxmlformats.org/drawingml/2006/main">
            <a:r>
              <a:t>Handoff ZIP: decisions/0003-conditions-belong-to-people.md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총점을 안 쓰는 것은 계산 능력이 부족해서가 아니라 제품의 질문이 최고가 아니라 납득이기 때문이다.</a:t>
            </a:r>
          </a:p>
          <a:p xmlns:a="http://schemas.openxmlformats.org/drawingml/2006/main">
            <a:r>
              <a:t>과장 금지: 총점 방식이 항상 잘못됐거나 분할이 더 공정하다고 검증됐다고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decisions/0001-no-total-score.md</a:t>
            </a:r>
          </a:p>
          <a:p xmlns:a="http://schemas.openxmlformats.org/drawingml/2006/main">
            <a:r>
              <a:t>Handoff ZIP: decisions/0004-agreement-by-split.md</a:t>
            </a:r>
          </a:p>
          <a:p xmlns:a="http://schemas.openxmlformats.org/drawingml/2006/main">
            <a:r>
              <a:t>Handoff ZIP: docs/05-tradeoff-patterns.md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동사는 추천한다가 아니라 확인하고 함께 결정하도록 돕는다다.</a:t>
            </a:r>
          </a:p>
          <a:p xmlns:a="http://schemas.openxmlformats.org/drawingml/2006/main">
            <a:r>
              <a:t>과장 금지: 확정 VP에 더 빠르게·갈등 없이·최적이라는 미검증 효과를 추가하지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artifact: value-proposition_20260820.md</a:t>
            </a:r>
          </a:p>
          <a:p xmlns:a="http://schemas.openxmlformats.org/drawingml/2006/main">
            <a:r>
              <a:t>Local artifact: prd_v0.1_20260820_with_AC.md §7</a:t>
            </a:r>
          </a:p>
          <a:p xmlns:a="http://schemas.openxmlformats.org/drawingml/2006/main">
            <a:r>
              <a:t>Handoff ZIP: docs/11-decision-status.md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조건 완화는 후보를 새로 추천하지 않고 현재 후보의 판정 변화를 미리 보는 기능이다.</a:t>
            </a:r>
          </a:p>
          <a:p xmlns:a="http://schemas.openxmlformats.org/drawingml/2006/main">
            <a:r>
              <a:t>과장 금지: 두 라운드면 반드시 합의되거나 출근지가 모든 사용자에게 필수라고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docs/11-decision-status.md</a:t>
            </a:r>
          </a:p>
          <a:p xmlns:a="http://schemas.openxmlformats.org/drawingml/2006/main">
            <a:r>
              <a:t>Handoff ZIP: docs/08-screen-design.md</a:t>
            </a:r>
          </a:p>
          <a:p xmlns:a="http://schemas.openxmlformats.org/drawingml/2006/main">
            <a:r>
              <a:t>Handoff ZIP: decisions/0003-conditions-belong-to-people.md</a:t>
            </a:r>
          </a:p>
          <a:p xmlns:a="http://schemas.openxmlformats.org/drawingml/2006/main">
            <a:r>
              <a:t>Handoff ZIP: decisions/0004-agreement-by-split.md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A와 B의 입력 순서는 같고, B는 입력 전에 후보와 초대 맥락을 먼저 본다.</a:t>
            </a:r>
          </a:p>
          <a:p xmlns:a="http://schemas.openxmlformats.org/drawingml/2006/main">
            <a:r>
              <a:t>과장 금지: B가 비로그인으로 모든 기능을 쓸 수 있다고 확정하지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docs/08-screen-design.md</a:t>
            </a:r>
          </a:p>
          <a:p xmlns:a="http://schemas.openxmlformats.org/drawingml/2006/main">
            <a:r>
              <a:t>Handoff ZIP: docs/10-data-integration.md</a:t>
            </a:r>
          </a:p>
          <a:p xmlns:a="http://schemas.openxmlformats.org/drawingml/2006/main">
            <a:r>
              <a:t>Handoff ZIP: docs/11-decision-status.md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화면의 Hero는 누가 무엇을 얼마나 감수하는지 읽히는 문장이다.</a:t>
            </a:r>
          </a:p>
          <a:p xmlns:a="http://schemas.openxmlformats.org/drawingml/2006/main">
            <a:r>
              <a:t>과장 금지: A-13b-2를 완성 화면처럼 제시하거나 사진을 핵심 판정 근거로 강조하지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docs/08-screen-design.md</a:t>
            </a:r>
          </a:p>
          <a:p xmlns:a="http://schemas.openxmlformats.org/drawingml/2006/main">
            <a:r>
              <a:t>Handoff ZIP: docs/05-tradeoff-patterns.md</a:t>
            </a:r>
          </a:p>
          <a:p xmlns:a="http://schemas.openxmlformats.org/drawingml/2006/main">
            <a:r>
              <a:t>Local artifact: prd_v0.1_20260820_with_AC.md §17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출근 안 함은 입력 누락·계산 실패가 아니라 정상 경로이며 비교표에서 통근 행을 뺀다.</a:t>
            </a:r>
          </a:p>
          <a:p xmlns:a="http://schemas.openxmlformats.org/drawingml/2006/main">
            <a:r>
              <a:t>과장 금지: 확인 필요와 방문 후 체크리스트를 같은 상태로 설명하지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docs/11-decision-status.md</a:t>
            </a:r>
          </a:p>
          <a:p xmlns:a="http://schemas.openxmlformats.org/drawingml/2006/main">
            <a:r>
              <a:t>Handoff ZIP: docs/09-edge-cases.md</a:t>
            </a:r>
          </a:p>
          <a:p xmlns:a="http://schemas.openxmlformats.org/drawingml/2006/main">
            <a:r>
              <a:t>Handoff ZIP: decisions/0003-conditions-belong-to-people.md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별도 앱에서 링크를 파싱하거나 매물 DB를 만드는 안이 아니라 네이버 내부 기능이라는 전제다.</a:t>
            </a:r>
          </a:p>
          <a:p xmlns:a="http://schemas.openxmlformats.org/drawingml/2006/main">
            <a:r>
              <a:t>과장 금지: 내부 API가 모두 있고 비용 계산이 실제 상환액을 정확히 예측한다고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docs/10-data-integration.md</a:t>
            </a:r>
          </a:p>
          <a:p xmlns:a="http://schemas.openxmlformats.org/drawingml/2006/main">
            <a:r>
              <a:t>Handoff ZIP: docs/06-cost-model.md</a:t>
            </a:r>
          </a:p>
          <a:p xmlns:a="http://schemas.openxmlformats.org/drawingml/2006/main">
            <a:r>
              <a:t>Handoff ZIP: docs/11-decision-status.md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단계 1은 핵심 가치와 급소 가설을 검증하고 단계 2는 방문 이후 기록까지 여정을 완성한다.</a:t>
            </a:r>
          </a:p>
          <a:p xmlns:a="http://schemas.openxmlformats.org/drawingml/2006/main">
            <a:r>
              <a:t>과장 금지: 계약·대출까지 해결하거나 AI가 정답을 고른다고 범위를 확장하지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artifact: prd_v0.1_20260820_with_AC.md §8</a:t>
            </a:r>
          </a:p>
          <a:p xmlns:a="http://schemas.openxmlformats.org/drawingml/2006/main">
            <a:r>
              <a:t>Local artifact: prd_v0.1_20260820_with_AC.md §21~§22</a:t>
            </a:r>
          </a:p>
          <a:p xmlns:a="http://schemas.openxmlformats.org/drawingml/2006/main">
            <a:r>
              <a:t>Handoff ZIP: docs/11-decision-status.md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FR은 화면 목록이 아니라 사용자 선택권을 보존하는 하나의 시나리오로 읽혀야 한다.</a:t>
            </a:r>
          </a:p>
          <a:p xmlns:a="http://schemas.openxmlformats.org/drawingml/2006/main">
            <a:r>
              <a:t>과장 금지: AI가 공정한 타협안을 제안하거나 상대 조건을 자동 적용한다고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artifact: prd_v0.1_20260820_with_AC.md §16</a:t>
            </a:r>
          </a:p>
          <a:p xmlns:a="http://schemas.openxmlformats.org/drawingml/2006/main">
            <a:r>
              <a:t>Handoff ZIP: docs/11-decision-status.md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AC는 기능·정합성 최소 완료 조건이며 특히 입력 분기·총점 금지·분할·오류 구분을 추적한다.</a:t>
            </a:r>
          </a:p>
          <a:p xmlns:a="http://schemas.openxmlformats.org/drawingml/2006/main">
            <a:r>
              <a:t>과장 금지: AC가 사용자 만족·갈등 감소·사업 성과를 보장한다고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artifact: prd_v0.1_20260820_with_AC.md</a:t>
            </a:r>
          </a:p>
          <a:p xmlns:a="http://schemas.openxmlformats.org/drawingml/2006/main">
            <a:r>
              <a:t>Local artifact: prd_v0.1_20260820_with_AC.md Acceptance Criteria Summary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H1과 H2-b-2가 무너지면 기능 개선보다 2인 전제나 Problem Statement를 재검토한다.</a:t>
            </a:r>
          </a:p>
          <a:p xmlns:a="http://schemas.openxmlformats.org/drawingml/2006/main">
            <a:r>
              <a:t>과장 금지: 근거 없는 전환율 목표를 만들거나 North Star를 결정시간 단축률로 바꾸지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docs/02-hypotheses.md</a:t>
            </a:r>
          </a:p>
          <a:p xmlns:a="http://schemas.openxmlformats.org/drawingml/2006/main">
            <a:r>
              <a:t>Handoff ZIP: docs/11-decision-status.md</a:t>
            </a:r>
          </a:p>
          <a:p xmlns:a="http://schemas.openxmlformats.org/drawingml/2006/main">
            <a:r>
              <a:t>Local artifact: prd_v0.1_20260820_with_AC.md §23~§24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가장 먼저 줄여야 할 위험은 화면 완성도가 아니라 B 참여와 문제 인과다.</a:t>
            </a:r>
          </a:p>
          <a:p xmlns:a="http://schemas.openxmlformats.org/drawingml/2006/main">
            <a:r>
              <a:t>과장 금지: 위험이 설계로 모두 해결됐거나 내부 API가 가능하다고 가정하지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artifact: prd_v0.1_20260820_with_AC.md §25~§26</a:t>
            </a:r>
          </a:p>
          <a:p xmlns:a="http://schemas.openxmlformats.org/drawingml/2006/main">
            <a:r>
              <a:t>Handoff ZIP: docs/02-hypotheses.md</a:t>
            </a:r>
          </a:p>
          <a:p xmlns:a="http://schemas.openxmlformats.org/drawingml/2006/main">
            <a:r>
              <a:t>Handoff ZIP: docs/09-edge-cases.md</a:t>
            </a:r>
          </a:p>
          <a:p xmlns:a="http://schemas.openxmlformats.org/drawingml/2006/main">
            <a:r>
              <a:t>Handoff ZIP: docs/10-data-integration.md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성과는 제품 성공 선언이 아니라 어디까지 만들 가치가 있는지 판정할 다음 실험이 명확해진 것이다.</a:t>
            </a:r>
          </a:p>
          <a:p xmlns:a="http://schemas.openxmlformats.org/drawingml/2006/main">
            <a:r>
              <a:t>과장 금지: 시장 검증 완료·MVP 개발 확정·H2-b-2 정성 확인 완료라고 말하지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Handoff ZIP: _00_READ_FIRST.md</a:t>
            </a:r>
          </a:p>
          <a:p xmlns:a="http://schemas.openxmlformats.org/drawingml/2006/main">
            <a:r>
              <a:t>Handoff ZIP: docs/11-decision-status.md</a:t>
            </a:r>
          </a:p>
          <a:p xmlns:a="http://schemas.openxmlformats.org/drawingml/2006/main">
            <a:r>
              <a:t>Handoff ZIP: docs/02-hypotheses.md</a:t>
            </a:r>
          </a:p>
          <a:p xmlns:a="http://schemas.openxmlformats.org/drawingml/2006/main">
            <a:r>
              <a:t>Handoff ZIP: docs/03-evidence-log.md</a:t>
            </a:r>
          </a:p>
          <a:p xmlns:a="http://schemas.openxmlformats.org/drawingml/2006/main">
            <a:r>
              <a:t>https://journals.sagepub.com/doi/full/10.1177/0272989X211021397</a:t>
            </a:r>
          </a:p>
          <a:p xmlns:a="http://schemas.openxmlformats.org/drawingml/2006/main">
            <a:r>
              <a:t>https://www.ncbi.nlm.nih.gov/pmc/articles/PMC3986464/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3c41bf4374e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54c3f996a346ba" /><Relationship Type="http://schemas.openxmlformats.org/officeDocument/2006/relationships/slideLayout" Target="/ppt/slideLayouts/slideLayout1.xml" Id="R266cf2621c314f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6cf2621c314f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48f753a6c422c" /><Relationship Type="http://schemas.openxmlformats.org/officeDocument/2006/relationships/notesSlide" Target="/ppt/notesSlides/notesSlide1.xml" Id="Rf41c0e16a70a41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deed91e6441a2" /><Relationship Type="http://schemas.openxmlformats.org/officeDocument/2006/relationships/notesSlide" Target="/ppt/notesSlides/notesSlide2.xml" Id="Rdb2058855eda41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ac902f4fc48aa" /><Relationship Type="http://schemas.openxmlformats.org/officeDocument/2006/relationships/notesSlide" Target="/ppt/notesSlides/notesSlide3.xml" Id="R910b26fed9d643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dc36461254307" /><Relationship Type="http://schemas.openxmlformats.org/officeDocument/2006/relationships/notesSlide" Target="/ppt/notesSlides/notesSlide4.xml" Id="R82d8f7113c7a4d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c87debdf34721" /><Relationship Type="http://schemas.openxmlformats.org/officeDocument/2006/relationships/notesSlide" Target="/ppt/notesSlides/notesSlide5.xml" Id="Rdda07f36863548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2bb4b0bcd4ffd" /><Relationship Type="http://schemas.openxmlformats.org/officeDocument/2006/relationships/notesSlide" Target="/ppt/notesSlides/notesSlide6.xml" Id="R9209259238f84e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1a3002a3545e0" /><Relationship Type="http://schemas.openxmlformats.org/officeDocument/2006/relationships/notesSlide" Target="/ppt/notesSlides/notesSlide7.xml" Id="R05a58c142a1e40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3ad38595e4796" /><Relationship Type="http://schemas.openxmlformats.org/officeDocument/2006/relationships/notesSlide" Target="/ppt/notesSlides/notesSlide8.xml" Id="R4df5066f921240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f304a9d1e4759" /><Relationship Type="http://schemas.openxmlformats.org/officeDocument/2006/relationships/notesSlide" Target="/ppt/notesSlides/notesSlide9.xml" Id="R9fe3e2ae2b1d4a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7d52c717c4d61" /><Relationship Type="http://schemas.openxmlformats.org/officeDocument/2006/relationships/notesSlide" Target="/ppt/notesSlides/notesSlide10.xml" Id="R4729ca31c27345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80f4dda294a8a" /><Relationship Type="http://schemas.openxmlformats.org/officeDocument/2006/relationships/notesSlide" Target="/ppt/notesSlides/notesSlide11.xml" Id="R75c23e6e1eba46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f4b0c10a244a9" /><Relationship Type="http://schemas.openxmlformats.org/officeDocument/2006/relationships/notesSlide" Target="/ppt/notesSlides/notesSlide12.xml" Id="R1e19b33b727344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791971f744098" /><Relationship Type="http://schemas.openxmlformats.org/officeDocument/2006/relationships/notesSlide" Target="/ppt/notesSlides/notesSlide13.xml" Id="R6ee9d93bb72d44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444ea3f8442af" /><Relationship Type="http://schemas.openxmlformats.org/officeDocument/2006/relationships/notesSlide" Target="/ppt/notesSlides/notesSlide14.xml" Id="R4922042f5e3b45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442c1430a4eea" /><Relationship Type="http://schemas.openxmlformats.org/officeDocument/2006/relationships/notesSlide" Target="/ppt/notesSlides/notesSlide15.xml" Id="R9d2ae0994c0446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dc50478d1457e" /><Relationship Type="http://schemas.openxmlformats.org/officeDocument/2006/relationships/notesSlide" Target="/ppt/notesSlides/notesSlide16.xml" Id="Rec5f13bea69745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a20c4fb5944a1" /><Relationship Type="http://schemas.openxmlformats.org/officeDocument/2006/relationships/notesSlide" Target="/ppt/notesSlides/notesSlide17.xml" Id="Rd641fcfca4534f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ce69af3684026" /><Relationship Type="http://schemas.openxmlformats.org/officeDocument/2006/relationships/notesSlide" Target="/ppt/notesSlides/notesSlide18.xml" Id="Re5c83e3a6391461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6cebf1c0342d1" /><Relationship Type="http://schemas.openxmlformats.org/officeDocument/2006/relationships/notesSlide" Target="/ppt/notesSlides/notesSlide19.xml" Id="Rf6fe61eb09974c0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10f0f52c84fd2" /><Relationship Type="http://schemas.openxmlformats.org/officeDocument/2006/relationships/notesSlide" Target="/ppt/notesSlides/notesSlide20.xml" Id="R605e608590f644e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29513c931445f" /><Relationship Type="http://schemas.openxmlformats.org/officeDocument/2006/relationships/notesSlide" Target="/ppt/notesSlides/notesSlide21.xml" Id="R2a51d9e943b34fd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553971e4b4791" /><Relationship Type="http://schemas.openxmlformats.org/officeDocument/2006/relationships/notesSlide" Target="/ppt/notesSlides/notesSlide22.xml" Id="R226a3164ed2f4f3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53d53721e4c6f" /><Relationship Type="http://schemas.openxmlformats.org/officeDocument/2006/relationships/notesSlide" Target="/ppt/notesSlides/notesSlide23.xml" Id="R642858e635534a8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0a962abe0481f" /><Relationship Type="http://schemas.openxmlformats.org/officeDocument/2006/relationships/notesSlide" Target="/ppt/notesSlides/notesSlide24.xml" Id="Rb8fc0a300fdf4d4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31379283c4bff" /><Relationship Type="http://schemas.openxmlformats.org/officeDocument/2006/relationships/notesSlide" Target="/ppt/notesSlides/notesSlide25.xml" Id="R0ec723c5239f4a7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31402f8674ad1" /><Relationship Type="http://schemas.openxmlformats.org/officeDocument/2006/relationships/notesSlide" Target="/ppt/notesSlides/notesSlide26.xml" Id="R2a46622eb1294eb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c710d679d4785" /><Relationship Type="http://schemas.openxmlformats.org/officeDocument/2006/relationships/notesSlide" Target="/ppt/notesSlides/notesSlide27.xml" Id="R36b12b9be85745e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bc14f95d34205" /><Relationship Type="http://schemas.openxmlformats.org/officeDocument/2006/relationships/notesSlide" Target="/ppt/notesSlides/notesSlide28.xml" Id="R925af2c76335402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37f3bba7e4df6" /><Relationship Type="http://schemas.openxmlformats.org/officeDocument/2006/relationships/notesSlide" Target="/ppt/notesSlides/notesSlide29.xml" Id="R82942a89330d45f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0336be3524454" /><Relationship Type="http://schemas.openxmlformats.org/officeDocument/2006/relationships/notesSlide" Target="/ppt/notesSlides/notesSlide30.xml" Id="R40ddae75737144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F6A77D-296A-4A64-82BA-F6CCBAB5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9E4D9-51E7-4CFB-A575-1D0F957C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2076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SERVICE REVERSE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41FE7-2FAF-4FC2-AE33-32115BB3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68103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이후,</a:t>
            </a:r>
          </a:p>
          <a:p xmlns:a="http://schemas.openxmlformats.org/drawingml/2006/main"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둘이 납득하는 결정까지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6319C-0F9F-4D1B-91C2-1F229372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4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 조건과 양보 지점을 보고, 함께 보러 갈 집을 정합니다.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AA8F5-44C3-4F1C-ABCE-5042EC72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부동산 공동 주거 의사결정 기능 역기획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C81A5-C6D4-4E6C-AE7F-EDDF4A57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181100"/>
            <a:ext cx="552450" cy="7429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9EFB6-55A2-4CC3-8EC0-6131EA3C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276350"/>
            <a:ext cx="40005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791F5-501B-4CDF-B989-7A52F82B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811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5E4A2-6572-4815-A146-846993F8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764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88B03-60D9-43CA-A8CA-9C5EA0BC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71600"/>
            <a:ext cx="552450" cy="7429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75D35-6DEE-4B94-8C9A-9583FB1B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466850"/>
            <a:ext cx="40005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26EB4-B6FF-471C-98E0-B38BAA35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716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F331D-634B-435F-8E22-510B47CD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77A34-BD35-4966-B03E-34F69061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181100"/>
            <a:ext cx="552450" cy="7429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85D58-E804-47C3-AC5C-32F3FC8A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276350"/>
            <a:ext cx="40005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BED4A-5A1E-4319-AEE6-9C46C4F5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811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2B551-D794-4AFA-8F40-5C01ACFF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764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D71C7-F2DF-41F4-AE3F-6433B25E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371600"/>
            <a:ext cx="552450" cy="7429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B5DA6-EA89-4999-8F38-28090CD8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466850"/>
            <a:ext cx="40005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7A908-BDD2-43CD-8FDC-56EB100B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716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604CD-3D02-406F-8CFF-397EF56C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669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623F2-3493-4590-8F34-12A81869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181100"/>
            <a:ext cx="552450" cy="7429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88852-4AEB-45A8-AA4D-FE8DE92A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276350"/>
            <a:ext cx="40005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7E2790-628A-4A8C-A791-1AF5FF44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5811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B6100B-DB99-4857-BA86-2165BBB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6764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D7666-DB52-464F-82D1-75609D24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723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DF76A8-A6B2-4A58-8A5A-42A12C31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476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882AFD-17A0-4F6B-BB96-EB6BAA7B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98262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차이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3924A0-9BC6-408C-B068-9683BB6B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95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51C4AD-8E4C-46E2-A289-22F5D45E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956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603C41-8ECC-4636-8FFD-B3267825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957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8D3FA9-29F8-4D0D-8BAB-83A2B8A7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957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5139DB-BE76-45E1-8D71-2881D161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767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803D5D-4460-4A7E-8F74-98A75B89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없이 대가를 설명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401108-3D08-4F17-A8D2-5BDB6FF6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86300"/>
            <a:ext cx="723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B23C1E-D159-4050-8CAB-87E6FE7D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43500"/>
            <a:ext cx="1123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 후보 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50F9AF-A051-4452-9074-0C361888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143500"/>
            <a:ext cx="1123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후보 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6962A7-2A93-4791-86BB-E8C4BDB4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Handoff 2026-08-20 · Commit 10b6455…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429A3B-25DE-4CCB-8039-FE21BA4B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5008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93CD62-5F46-4ECB-8E95-CECD1805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247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D42D8-9B01-4E21-87B0-D1CA2A9D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검색을 확장하지 않고, 저장 이후의 공동 결정을 보완한다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EC0ED-D528-4477-84E4-ECE99BF0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0D03D-E149-4716-902B-80105603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· docs/02-hypotheses.md · docs/11-decision-status.md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50A92-9BC2-45E1-8C65-BB10EB8D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68CC6-8D4B-4785-ADAB-A1B6E03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952625" cy="2266950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03BAD-E41D-4A12-9B36-D40D592F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EDD1E-B28E-4A42-9B6E-32FC4330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ABB1F-CFD0-48B1-AA7F-D0A30B40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 경쟁·대체재 압력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3E253-76B8-4878-8900-B25A41FF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A1420-5537-4405-9832-753859A3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기존 탐색 위에 붙는다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D50DC-F7D4-413E-88B4-1B79A0BB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24150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421B6-CBF4-443F-B123-8FFEC1D8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1952625" cy="2266950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E60E5-2575-46FC-BDCE-B3E948DB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47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11851-786A-4FB7-AEF0-580DD1BC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고객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7583F-D1EB-4AB3-A79D-CA4200EA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고르는 2인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36D7C-35D5-4192-9955-3C018396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14700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CF824-72A0-418D-A063-40DEA214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766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조건과 우선순위가 다르다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2B453-BED8-4FE6-8FEB-5D105FDD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24150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E45B1-C07C-435F-8B5F-3956C196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95450"/>
            <a:ext cx="1952625" cy="2266950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8FA34-EAC4-4FD9-8177-73458D08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47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060D50-D49A-45A8-A80D-757CE17E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8AFDA-4FCA-40D3-837D-31712CDB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289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충돌은 확인 · 지연 인과는 미검증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BDFDA-5CD4-4259-B202-BDA33CBC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14700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C80DE-E0ED-4A5A-9B72-F9283E44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H2-b-2가 급소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F485E6-A1AB-4D5E-AB68-2C562CB9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24150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857B7C-DDA4-4E49-8EAD-ABCD3D83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95450"/>
            <a:ext cx="1952625" cy="2266950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E79971-5D67-49A5-B6CB-38D56AEF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47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58198B-C6A0-4D97-9BF4-C396ADBE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메커니즘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D4509B-43BA-4143-A2E3-BDA447E2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충족·미달·양보를 병렬 설명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CA3743-4E26-42BE-AC43-80F663A4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8A67F4-B0C4-418F-9DD9-7001B013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766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총점·자동 추천 없음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2B96DD-4519-40E4-A6B4-BE16060D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724150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B351D4-0C07-4606-9305-4A76C326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95450"/>
            <a:ext cx="1952625" cy="2266950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4A65B3-794B-49C2-8DFC-7301B9F0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47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118C2F-A97A-47EF-AF56-DD8AAF9C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종료점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FD6B20-84F8-4FC0-9A77-04F74739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최대 5개 → 방문 2개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56DC4D-CEE0-4BF6-88D4-580B6C76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14700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9EC17B-613E-4250-8D23-368E0446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766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둘이 직접 선택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DDF86D-AC65-4388-ACE1-956DB3C7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9F3724-7C27-42B3-B1D8-C7F204D5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43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검증 순서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B244E5-2C24-44E2-8689-9F4F8BB3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H1 초대 참여 선행 측정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64C369-0626-4163-A388-FBFFCB69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91100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F0B5"/>
          </a:solidFill>
          <a:ln xmlns:a="http://schemas.openxmlformats.org/drawingml/2006/main" w="0">
            <a:solidFill>
              <a:srgbClr val="8DF0B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0D0B72-C7D7-4D87-AD38-B7F68038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H2-b-2 지연 인과 인터뷰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32FB74-1E59-4AA0-828F-2EFDD816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91100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F0B5"/>
          </a:solidFill>
          <a:ln xmlns:a="http://schemas.openxmlformats.org/drawingml/2006/main" w="0">
            <a:solidFill>
              <a:srgbClr val="8DF0B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C2A830-443C-4FD7-A731-CDF23A1D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33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단계 1 프로토타입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D7F945-494B-4A26-9A13-5C609DA1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57700"/>
            <a:ext cx="666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FACT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E4458D-BBAF-4EBA-BA2A-334A9B32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457700"/>
            <a:ext cx="5905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2EE706-F59A-4180-BBFB-A4D74A88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00600"/>
            <a:ext cx="990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AAB9E2-7518-4D7A-BD57-7DD5A0D7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8006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300967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81D76A-DD87-4540-ACC7-10867A78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990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62626-E1F0-4588-8540-F5E6B8E2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시장은 ‘온라인 주거 탐색’이 아니라 ‘탐색부터 공동 결정까지’로 잠근다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CA43A-78D0-4CDF-B16C-F86D10FD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03735-40F7-4FEF-B49A-DCE9CA42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§5 · docs/11-decision-status.md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520A8-10BA-4A71-89B0-CB0D22B0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E2739-0255-4C1C-B338-D426A599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46672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대한민국 온라인 주거용 부동산 탐색·비교·의사결정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962C8-7BAD-4CBC-BEF6-B468A666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5240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372AE-E98A-4964-9688-4DA7526E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4F90D-6731-4E19-9AA2-201CAECE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003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DA"/>
          </a:solidFill>
          <a:ln xmlns:a="http://schemas.openxmlformats.org/drawingml/2006/main" w="0">
            <a:solidFill>
              <a:srgbClr val="D8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00E31-328B-46B9-8689-D282D37C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1381125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5E531-00B4-4376-A2CF-AFF5FE32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1228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AF76D-75D5-4DF4-B149-611A50F0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003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B38DE-06E9-4F7F-A464-9025B6B4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381250"/>
            <a:ext cx="1381125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11419-E3A6-4B4A-B516-24C75B89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86050"/>
            <a:ext cx="1228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7566D-4744-47F6-9C08-36F9FD01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003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CBAA8-8B22-4101-BB04-9DD8834C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81250"/>
            <a:ext cx="1952625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6F86A-DCF2-4BB8-9E04-193F6426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1800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비교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06415-1444-442C-92AE-E810861D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003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161C8F-D3FA-4C91-887D-E9EA06F7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81250"/>
            <a:ext cx="1714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30B098-B7C1-4B8B-8CCE-CC02E11D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6860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결정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ACCBAD-1E91-4D70-B800-D8DFB622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003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5C62C-578C-43D2-86B1-156A2081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381250"/>
            <a:ext cx="1714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A13A4-10B2-476E-BB1D-C05F91DF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860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계약 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36D3D-7567-4B90-B77F-8013D92C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76650"/>
            <a:ext cx="67246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EC3C2C-B938-4D24-868A-DDFBB140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5285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INITIAL ENTRY  ·  관심매물 저장 이후  ·  전·월세 공동 주거 탐색자 2인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725C3-4908-4BF3-8770-04F88A39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10801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51171B-86FD-425D-90EF-36A47DD3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제품 정의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2CB0CC-07E3-424B-8E13-CC7854B8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767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 · 주거 형태 자체는 제한하지 않음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758C85-C208-4374-82D7-95AAF40D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801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38C398-1948-43C7-AF09-674AF200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00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 형태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4705AE-8114-46BE-A8B5-0E1EBA28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0062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별도 앱이 아니라 네이버 부동산 안의 기능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0CD901-5339-41B5-A2C0-C81A8169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0801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24091C-61F9-48A3-A5AC-D301280D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2212E8-1CF4-4CED-B74B-275E41EB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245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계약·등기·보증보험·대출 실행 · 3인 이상 공동 결정</a:t>
            </a:r>
          </a:p>
        </p:txBody>
      </p:sp>
    </p:spTree>
    <p:extLst>
      <p:ext uri="{BB962C8B-B14F-4D97-AF65-F5344CB8AC3E}">
        <p14:creationId xmlns:p14="http://schemas.microsoft.com/office/powerpoint/2010/main" val="224337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5B3769-8C31-42EE-88DA-BFE31C58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590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 · FIVE FORCES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C4BF7-994B-4213-90FD-61D65EC7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 경쟁보다 더 큰 압력은 이미 익숙한 대체 워크플로다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455D6-AE7E-424E-A9C2-F63FB219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ED454-EA9D-4648-B146-544521CE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§5 · docs/04-benchmarks.md · docs/10-data-integration.md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77837-9419-40F0-8AA2-1BA923F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40BC6-08B2-46BA-A82A-1B9B6A68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대체재 위협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FB2B8-D824-4270-82A1-3A3D6958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76400"/>
            <a:ext cx="3238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81915-2DB5-4B8F-B79F-6F432222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76400"/>
            <a:ext cx="3238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0B21D-8FCB-42F4-A28E-E38F0C86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00200"/>
            <a:ext cx="8191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매우 높음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AD565-FE55-45A2-8751-3964BA29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09725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카톡·지도·엑셀·메모보다 시작이 복잡하면 쓰이지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E3584-1F37-4C57-9F4F-873D3AE2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AF67B-BA7E-400F-980D-A83D0A48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기존 경쟁 강도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5FA62-472E-4B71-BCFE-0E1C4C2A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38400"/>
            <a:ext cx="3238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C67FE-0BBC-4BA1-9BC7-BBB0438D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38400"/>
            <a:ext cx="2590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5EE25-C158-4352-BCBA-D9A91FDA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62200"/>
            <a:ext cx="8191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D4D12-BB31-4ADC-9255-D9BA36B0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71725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검색·지도·매물량 정면 경쟁을 피함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0EBA8-AB48-4A53-9E2E-1941E473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E45C0-88A6-452B-B82F-134301D8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구매자 교섭력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2FCE4-5D21-467C-AB83-DACE9885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3238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8B666-E3BF-462E-A1BC-846DFE55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2590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B535D6-06BE-450E-AC93-923A766A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24200"/>
            <a:ext cx="8191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D86384-D309-410D-A4B0-C9DB3000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33725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가입·초대·조건 입력 마찰을 최소화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E7A56-653D-4E9A-B2B5-7ABAD16D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D00A6-EFAD-4076-853F-A7636265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공급자 교섭력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225B8A-C4F5-4787-AB26-0ECF2556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62400"/>
            <a:ext cx="3238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81FEEF-C6E2-4C0F-B594-63211D30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62400"/>
            <a:ext cx="22669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E2066-C077-4130-9C67-B6F23BB4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86200"/>
            <a:ext cx="8191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중~높음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AA2AAE-DC0A-4DEE-ADC5-1C7D0A1B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95725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기존 매물 데이터를 읽어 판정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7338C0-A87C-4855-A811-2949C6E0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D92E48-559D-4672-8608-00580199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신규 진입 위협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8CFB5E-B984-42D1-BEC6-4298FCC8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24400"/>
            <a:ext cx="3238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52CC32-6132-41CA-BAB6-19CE04C8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24400"/>
            <a:ext cx="19431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B321BC-9019-4B75-A9D4-E4734595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48200"/>
            <a:ext cx="8191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BBFF16-E16C-437A-B769-536070C0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57725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기능 전제가 데이터 장벽을 낮춤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D44D3A-D71E-47ED-AF4A-948558D5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863AC8-BE14-4D35-9A9B-5DB9C752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4965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EF3BAB-CE72-4894-9AD0-030E3D46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전략 결론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553BEF-E7AF-4137-92F1-93B3072C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673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‘매물을 더 잘 찾기’보다 기존 탐색 위에 붙는 공동 의사결정 레이어</a:t>
            </a:r>
          </a:p>
        </p:txBody>
      </p:sp>
    </p:spTree>
    <p:extLst>
      <p:ext uri="{BB962C8B-B14F-4D97-AF65-F5344CB8AC3E}">
        <p14:creationId xmlns:p14="http://schemas.microsoft.com/office/powerpoint/2010/main" val="148099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366E91-3606-44FB-B6DB-C8E8E4D8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7907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 ·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21A16-EA69-49C0-9F22-D3A22FA2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 규모는 ‘큰 숫자’보다 하한과 가정의 경계를 보여준다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252D8-BA4B-4AF5-8AB1-22CAE359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C169E-B5AB-4C29-A17F-CE3A3DA5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§5 · docs/03-evidence-log.md F13~F17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9F18B-EE26-42CE-B8EB-F6F57422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5A351-ED0E-4F48-876C-CEC73C91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8763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74B72-F892-47CD-9F48-A4937FCF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819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CD523-36A9-4B84-8EAC-C9BD748D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7430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500만~700만 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01E5E-9AAB-4B92-8052-55A54557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7645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 앱 이용자 자릿수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36644-6520-46F2-8579-13F9411B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95525"/>
            <a:ext cx="733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중간 · 중복 제거 불가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CE835-95EB-47B0-BDD7-04182CFA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838450"/>
            <a:ext cx="6572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7392A-BCC7-4305-AFEE-70A97F6C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90850"/>
            <a:ext cx="819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SAM 하한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6F913-D175-4394-9219-DFBBA39A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9432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54.6만 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56E36-0E4C-432C-9C51-C86E88C4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276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신혼부부 95.2만 × 무주택 57.3%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D440F-4362-463A-AAEA-86E6E8FE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495675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높음 · 신혼부부만 반영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45F67-C669-40EE-9440-78A25628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038600"/>
            <a:ext cx="4095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7FCBE-EE9C-4C84-8DE8-1AA4AC30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91000"/>
            <a:ext cx="11239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SOM 시나리오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D1C5F-895F-4A99-832C-394322A6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433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6.7만~20.1만 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9F48D-0CA5-4BC0-B3BE-F45EBE0E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476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MAU 134만 × 가정 5/10/15%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1474F-5A32-48AB-8418-76053CC4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6958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낮음 · 수요 예측 아님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43737-9656-47AE-B868-77807160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57350"/>
            <a:ext cx="1762125" cy="31432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44AFB8-7FB5-4E0D-B39E-B8B3230C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47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2025 모바일 MAU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A239A-B983-4DA3-8311-DF262E55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05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직방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27680-80D8-4FF9-8306-20601DA5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90800"/>
            <a:ext cx="13144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19F373-1EC6-4110-B310-21A55265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90800"/>
            <a:ext cx="13144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70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6AA65-75F7-44E3-85B7-43FDDE99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05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229만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083E81-2BD0-4552-8FED-8F915FBE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호갱노노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D4E8DD-0657-467F-8346-8A3F6942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14700"/>
            <a:ext cx="13144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6EAAF0-C8E3-4586-92AD-452EA711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14700"/>
            <a:ext cx="1027452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70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B094F3-54CB-48CF-A17A-96A2BEC4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28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179만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FF307A-1074-4750-8C67-CFC68A07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52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CAEC81-91FA-435A-8548-5EF437D8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38600"/>
            <a:ext cx="13144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BA99B0-760A-44BB-8CE0-92746FA5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38600"/>
            <a:ext cx="769154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A66C7C-7DCF-44A5-8E23-8B78594B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52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134만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CA58C8-C842-467C-871B-4A085719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76725"/>
            <a:ext cx="685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가정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8410DF-ADBA-467D-A042-C16936DD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9105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SOM은 점선 범위로만 해석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D49CC3-E2D7-449D-9B0D-88BC0BA0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7823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92E8F6-8312-4E4A-AA0C-4A6402BC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해석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4BD844-2C37-49F0-9A59-1ABF27B5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57825"/>
            <a:ext cx="960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보유 자산을 활용해 미점유 결정 구간을 공략한다 — 숫자의 확실성은 서로 다르다.</a:t>
            </a:r>
          </a:p>
        </p:txBody>
      </p:sp>
    </p:spTree>
    <p:extLst>
      <p:ext uri="{BB962C8B-B14F-4D97-AF65-F5344CB8AC3E}">
        <p14:creationId xmlns:p14="http://schemas.microsoft.com/office/powerpoint/2010/main" val="14954193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58634C-7915-47DE-89A9-25858811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3048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ENTERPRISE · VALUE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79769-552F-403B-90FE-A7E000FD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가치사슬의 공백은 관심매물 저장과 문의·방문 사이에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2F7FB-16A7-4C59-94D5-9D12FF19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FD10B-FFD2-4EB8-AA58-7584012B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· docs/07-cjm-opportunity-score.md · docs/10-data-integration.md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D97EE-02C0-4810-93C6-BC87F241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3EA28-90F3-49E7-94AC-F4E1E71D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6680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402AA-644F-4B67-A564-0536475C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34EE4-DD14-4FB4-86E7-7E2B4D63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193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DA"/>
          </a:solidFill>
          <a:ln xmlns:a="http://schemas.openxmlformats.org/drawingml/2006/main" w="0">
            <a:solidFill>
              <a:srgbClr val="D8E2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BD234-3207-494B-8E76-F7F52520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43125"/>
            <a:ext cx="106680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B332B-6552-4648-87E6-395C98CB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62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정규화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0CB4C-8683-4A8A-AF9B-1AFC9F80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DA"/>
          </a:solidFill>
          <a:ln xmlns:a="http://schemas.openxmlformats.org/drawingml/2006/main" w="0">
            <a:solidFill>
              <a:srgbClr val="D8E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D9CFF-351E-4F3D-83C5-D2209BE1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106680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E6DD5-A2C7-4053-A6DE-FA620CF5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검색/지도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D0A70-9B36-4588-B768-C6316A56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193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DA"/>
          </a:solidFill>
          <a:ln xmlns:a="http://schemas.openxmlformats.org/drawingml/2006/main" w="0">
            <a:solidFill>
              <a:srgbClr val="D8E2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0923F-779A-437E-A220-70615F30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106680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04346-FCB8-4CF3-AEDE-DF284051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A810D-6C67-4506-93E3-0E999DD9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193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DA"/>
          </a:solidFill>
          <a:ln xmlns:a="http://schemas.openxmlformats.org/drawingml/2006/main" w="0">
            <a:solidFill>
              <a:srgbClr val="D8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5C9CC-384E-4A81-A3ED-9F1A5DCA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43125"/>
            <a:ext cx="106680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F12C0-6DB7-4139-B2CF-2D85B246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62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DC689-D6C4-469C-9147-C1C66A56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DA"/>
          </a:solidFill>
          <a:ln xmlns:a="http://schemas.openxmlformats.org/drawingml/2006/main" w="0">
            <a:solidFill>
              <a:srgbClr val="D8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38C70D-91CF-4C0F-A926-7084C117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106680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7A395-AAB3-41FE-985C-EA6E12A9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62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공유·비교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611F1-71EA-40E7-9762-214A7F83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193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9F6621-8D78-4AFD-A307-4DB46D9C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43125"/>
            <a:ext cx="106680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57131-CC35-42C0-8EE6-AECC433E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62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C5AD66-666E-434D-90B6-D02D6DF7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193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1A16AD-915F-42D3-9D40-D9D9C887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3125"/>
            <a:ext cx="106680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4EB26-886A-485E-9F24-535D1C52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문의/방문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737D9F-EECF-4923-9A6E-E36199A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193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DA"/>
          </a:solidFill>
          <a:ln xmlns:a="http://schemas.openxmlformats.org/drawingml/2006/main" w="0">
            <a:solidFill>
              <a:srgbClr val="D8E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E7712F-923A-4489-8707-1CFD81E6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43125"/>
            <a:ext cx="106680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DB473C-B3B0-424B-80B1-666004E1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62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금융/계약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60C2D2-F9A6-478C-A51B-6AA8EFA7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286000" cy="1581150"/>
          </a:xfrm>
          <a:prstGeom xmlns:a="http://schemas.openxmlformats.org/drawingml/2006/main" prst="roundRect">
            <a:avLst>
              <a:gd name="adj" fmla="val 84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5DD627-483A-44C6-B2CB-87A09C46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43075"/>
            <a:ext cx="1562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OPPORTUNITY ZONE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A158D4-5DFC-4BED-9DFE-D64011A8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 이후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A71B7B-6A63-49CA-900E-D78BC88E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관심매물은 네이버에 남지만, 두 사람의 의견 조율은 여러 도구를 오간다는 팀의 관찰/추론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B92112-FC36-4D44-8E8E-9EA6673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85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80D8B6-40AC-4E18-8F1A-1371790A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67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내부 행동 데이터로 확정된 사실이 아님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CB67D7-85BF-419A-BCDE-469606DB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67125"/>
            <a:ext cx="28575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BAEF06-432A-4AC7-B664-182E23F1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86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제품 경계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E6F48D-2DA8-4C59-8EBC-D65F9E69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957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새 매물 DB · 검색을 만들지 않는다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B5480B-4603-4CF9-82DF-5E65F200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291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저장된 관심매물 최대 5개에</a:t>
            </a:r>
          </a:p>
          <a:p xmlns:a="http://schemas.openxmlformats.org/drawingml/2006/main"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사람별 조건을 적용한다</a:t>
            </a:r>
          </a:p>
        </p:txBody>
      </p:sp>
    </p:spTree>
    <p:extLst>
      <p:ext uri="{BB962C8B-B14F-4D97-AF65-F5344CB8AC3E}">
        <p14:creationId xmlns:p14="http://schemas.microsoft.com/office/powerpoint/2010/main" val="6047137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B50883-FB30-4CE3-8E4F-BD07E800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133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ENTERPRISE · KSF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18705-28B8-4533-B8D7-4D048501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성공조건은 데이터보다 ‘두 번째 사람을 끝까지 참여시키는 경험’에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90BB0-3EBA-48EF-8841-19DC91F8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1E61C-67E4-45D9-8B6A-E1894F69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· docs/02-hypotheses.md H1 · docs/09-edge-cases.md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297A4-3EF3-461F-A39E-B4D33DFD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61F67-6A3D-41FC-AE6C-E47E0A3A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NAVER ASSETS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80406-ED5D-4512-B872-ED303A9D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81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DECISION KSF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5BCCB-8D25-4825-B252-CCEE6FAF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095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0FF4D-E663-4683-B66D-80352A70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풍부하고 신선한 매물 데이터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8622F-3FF1-497F-91DD-64E0DA1A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81225"/>
            <a:ext cx="876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90FE9-E16F-4AA4-B316-9CEEB10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5029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556D4-2246-4AA4-86A2-A1E4FF74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431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조건이 매물이 바뀌어도 살아남는 후보 관리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4C28A-213C-489F-B648-82A3E98C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095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2421B-FF17-444A-A896-9707D7A4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지도·필터·검색 속도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0FC6D-0BB3-4429-8E4B-DAAD1173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62275"/>
            <a:ext cx="876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29EE3-3C98-45A3-9064-A0AF3B12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5029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F1BB1-1950-4459-B459-DA617AB8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241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링크 중심의 낮은 초대 마찰과 최소 입력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19679-29CB-4957-92CF-780E0E28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4095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06D9C6-191A-48AD-8399-944901A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로그인 사용자·관심매물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24D8C-08B4-408B-8114-832435E2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43325"/>
            <a:ext cx="876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15899-187F-4F25-9AC7-3253866D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62350"/>
            <a:ext cx="5029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38294-0380-46C0-8576-A683E325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052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조건을 같은 비중으로 설명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2B5B15-DE6F-4A95-8D6F-7697824C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095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90895-357E-4CDA-B9A9-6A2B8020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문의·방문·금융 생태계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5E1206-08AF-4DBB-B02E-D146A409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24375"/>
            <a:ext cx="876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91E6E3-C89C-4C52-9B4E-25ACDC19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5029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0BAED-5487-4E74-9BB2-BA1C6831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862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 후 기존 행동으로 자연스럽게 복귀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5B2A39-5556-4798-9313-E44EB5AD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534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9525">
            <a:solidFill>
              <a:srgbClr val="C241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CCCAEB-D118-4734-A444-B49ECD86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838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H1 급소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8235F-F969-4B42-BB35-2B0DAE64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5782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초대받은 B가 들어와 자기 조건까지 입력하는가?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B6B004-4B2B-43DA-A6E7-2BA2FE5E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864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B가 오지 않아도 A는 막히지 않지만, 1인 경로를 주 경로로 만들지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3438702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18B7D7-69FD-44D8-908A-F15F812A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219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45F55-AC11-4FEA-A2F1-F149A001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제품 사용자는 넓게, 첫 검증 표본은 의도적으로 좁게 잡는다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82DED-50F9-410A-AA0D-5C5181CC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3F1D4-9510-44D3-B3FC-D9F7ECCF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docs/11-decision-status.md · docs/02-hypotheses.md H1 · docs/03-evidence-log.md I12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7DF6A-1D28-441F-BCFD-677C36A7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0C326-0A4E-4121-936A-2F787F61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71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사용자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A37CA-54A3-4960-B202-DB68FDD2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52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88F36-E8D0-4E92-8AF8-27F585EA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4584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2D514-4943-47C7-BC7B-6108728D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035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8CB68-30A6-40BE-A5BE-7918E5A5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3714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B47B1-B947-46ED-BA20-5D8893C8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67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94005-23DA-4E31-93DD-531165BB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67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70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6C17A-BB4A-4C37-B4B8-9DE7D178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9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공동 의지 높음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ED8C9-161D-4D9B-B293-2B8659A5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9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상대적으로 낮음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40577-F6B4-4487-A016-88D3DFDA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62200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1차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2141E-18A8-4828-B91E-D1D18550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예비부부·신혼부부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B37E8-7E39-4343-B9E2-B8278675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2차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AD94AB-9461-462D-AEDA-980FDB70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717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친구·룸메이트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2709E-6588-4C54-8912-773C7D42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04584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9AA4D-5EBF-4A9D-A38B-E1DE2094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초기 시장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0C855-CBA0-4507-ADD3-ACFC1224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5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전·월세 공동 주거 탐색자 2인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6FB9CD-624E-46E1-BE42-1DCDB752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584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AF525-BEB3-4233-AE04-F93699ED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표본 조건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3F2808-B111-4277-BFA2-C69E2699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91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완전공동형 — 두 사람이 실제로 각자 의견을 내는 관계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DBA85C-2CEB-4D7B-9478-FB88F647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104584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704E0F-E848-49C2-80FB-0E9FA453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54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제외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61C859-F7A1-4C2B-9732-8A71F24E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76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3인 이상 · 부모–자녀 · 주도–승인형</a:t>
            </a:r>
          </a:p>
        </p:txBody>
      </p:sp>
    </p:spTree>
    <p:extLst>
      <p:ext uri="{BB962C8B-B14F-4D97-AF65-F5344CB8AC3E}">
        <p14:creationId xmlns:p14="http://schemas.microsoft.com/office/powerpoint/2010/main" val="888504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5354A4-2908-4C50-B14E-8E5D0FE4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133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7357F-9B0C-490F-AD3D-ED14978D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초대자는 후보를 만들고, 수신자는 맥락을 이해한 뒤 자기 조건을 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FADEA-D8F8-40F5-BB53-2F236BAE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2F7FB-39B7-4B68-B497-26844A74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docs/08-screen-design.md · docs/11-decision-status.md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EC3FD-5767-465E-82AB-5B6DDE92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C1C28-E766-4046-8D89-93BD704A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50482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0F882-6C26-450D-B916-AD16B257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62100"/>
            <a:ext cx="50482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EC124-4E4D-4ECE-80E2-C53B9D69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1733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 · 초대자 · PC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E6F00-5BE9-4220-B21B-9EA07872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52600"/>
            <a:ext cx="1752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 · 수신자 · MOBILE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2A878-8381-4210-B7D2-77623AA4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E4BA5-98CD-4237-B4E8-236CE2AE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479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관심매물을 탐색·저장 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6259B-2C26-4408-B41D-5D3E97BD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ED7CB-7093-4D88-BC16-B7BDBD6E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AACA1-EB6A-49ED-9EF8-38AA2958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479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중 최대 5개 선택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EDD30-9588-43D1-9815-6920AA41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A77D3-DFE4-4DE0-9FF6-72ACA60F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DF403-E853-48A5-B46F-81566677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480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58917-2FCC-425F-AC54-16A98370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466F7-DBD2-415F-9345-1CEFCE56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필요 가치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15486-C740-495C-A91B-ECE5E123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481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 혼자 설명하지 않고 비교 시작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9BFAA-AD03-4A81-995A-F6DD3ED8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0075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80EBF-5592-4789-B119-4B7CC9CC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F2F0D6-C55C-4F75-811E-879DF9E0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48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AC8A43-DB2D-485A-B83A-6621F3F6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067A7E-0164-4FB8-8161-AFBCF73A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05095-8C27-42E9-9DC7-05F7DDDB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카카오톡 등에서 받은 링크를 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35DEB9-71D1-497A-A661-3909844F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9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21E0D9-1E50-4F0D-B12B-5CA3ED03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670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6AEB53-AF99-4D35-A5DE-9475CF5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479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A의 선호를 먼저 확인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6179FF-E509-45D9-A181-282DD13B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9925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ACFFEC-E393-4E41-B9DC-C94FA06D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671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6AF3F7-B031-4FA4-9E96-C03F66B4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480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596F6B-17F3-4989-82D9-B56D2A21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10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F2132D-0137-401B-9EC9-357F5477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671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필요 가치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A21B01-14C5-407E-8073-B6B53E8E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맥락을 알고 최소 입력으로 참여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6AAC49-7E5F-4ABA-941E-F706BA32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10075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4B44A9-F092-4A3C-A210-75ED2E71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50EEA8-12B2-49BC-9F79-F43C6D99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48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DB91F1-BE8B-4086-96AC-163D903F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101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09D5F3-3D5D-4DE8-B54D-CCE5C8AA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D35E49-4DB5-4FE6-A51F-32BA08B5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766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권한은 대칭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0F216A-22FB-4450-8AEC-F0B4CA19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F5640C-C078-42F3-9FDC-59F6D76B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959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 B의 조건을 대신 바꾸지 않는다 · 진입 맥락과 기기는 다르지만 결정 비중은 같다</a:t>
            </a:r>
          </a:p>
        </p:txBody>
      </p:sp>
    </p:spTree>
    <p:extLst>
      <p:ext uri="{BB962C8B-B14F-4D97-AF65-F5344CB8AC3E}">
        <p14:creationId xmlns:p14="http://schemas.microsoft.com/office/powerpoint/2010/main" val="1908361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E38600-8751-4065-A9F6-25C83D12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3162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JOURNEY / JTBD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8E7FF-5341-49F6-9885-93DE8F47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362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사용자가 원하는 것은 검색이 아니라 ‘감수할 조건을 알고 방문 후보를 정하는 것’이다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ACDA7-F7D1-45DA-963F-172A03A6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2DAA4-2302-4A5E-B2D6-69180589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docs/07-cjm-opportunity-score.md · value-proposition_20260820.md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91A76-68C1-467A-AEB9-53B27E57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29614-FB4D-4EA7-A115-491BA94E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C33A4-FDE2-48DD-A108-EC7B542F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95525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8E4BA-894D-4959-8B14-AB134DA6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0398E-EFE8-42CA-A3D4-96AA046D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762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81449-8DDF-4A09-A283-CF5B3DA1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09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898E6-90CF-4A7D-9A25-BCF69348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95525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DB321-B83A-431D-8713-B2B73352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764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BDC07-0D77-475F-8A95-F23D0928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571750"/>
            <a:ext cx="762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B3FEA-19C4-4A1A-8DB6-0E639E62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36E9A-78AB-48CF-BC7A-B07FB976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95525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59A90-E3A2-4D56-9C37-8D279522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 열기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E9670-9F3D-45FC-B354-30B9F016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762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3696C-97C6-4C9E-B834-9536A9AB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09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A3018-0723-4917-B0D4-E81BE819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95525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7F701-0254-45D1-B3B3-6EF98255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764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E7820-F24F-4F6E-8893-F3373071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762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8A2EA-E849-498B-B307-F32F4AED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A76D1-0D66-4DC4-9AD2-147E99AC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95525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07035A-5F54-452D-9982-368774F9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E27A8-70C0-4277-9189-BB6A6F77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762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계산기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E51D01-5BC1-400A-9227-837C0AEA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1D748F-79F1-4197-9C4D-52DD9FF7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95525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41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B71336-248B-49E5-8668-2005812F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764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 교환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04D48-18E9-46F4-8E18-3FE31C87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762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8EFA0C-2595-4408-8A10-38A3A21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9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6BB4C9-7B7F-47E3-AA87-B1BAAC54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95525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23B766-C64D-49CF-AB94-FBAFEE02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764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79551B-B2C7-4228-ADB7-D5E6BABB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762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7D3852-8D5F-491E-9B35-1569156B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09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88CCB6-6595-4248-967D-607455EF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764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EE2DE1-298B-44CA-9D8D-2A65D78A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71750"/>
            <a:ext cx="762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423F00-3322-441A-A9E6-5FE5494F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24200"/>
            <a:ext cx="914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관찰/추론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B9D689-00FC-413C-A327-481F108E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24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B의 초대 맥락 부족과 의견 기준의 비구조화는 사용자 검증이 필요한 CJM 모델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085F63-6B75-472C-BE5D-D1B13087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5FDC12-D162-4B90-90B6-D9DF3CD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JOB TO BE DONE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9E62A2-1E65-4794-B7D9-FCC7854C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 저장한 관심매물 중, 감수할 조건을 알고 이번에 보러 갈 집 두 곳을 정한다.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74DEE6-27D9-4E97-9793-7493BA31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673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Functional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A16659-A092-4359-B350-15BA2369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387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 후보 2개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ACD91D-C051-4D1A-BD7D-17E2F469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0673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Decision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B8982E-0112-40F9-BD2F-692246BE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387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무엇을 얼마나 감수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6D6AAA-FBF9-44C2-8112-11BD7A38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673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Relational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38E168-F31D-4772-8FF8-80885375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387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 기준을 같은 비중으로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68D738-CDB4-4E11-8DC9-38818220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납득 = 내가 무엇을 감수하는지 알고도 방문 후보로 동의할 수 있는 상태</a:t>
            </a:r>
          </a:p>
        </p:txBody>
      </p:sp>
    </p:spTree>
    <p:extLst>
      <p:ext uri="{BB962C8B-B14F-4D97-AF65-F5344CB8AC3E}">
        <p14:creationId xmlns:p14="http://schemas.microsoft.com/office/powerpoint/2010/main" val="6810268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ADC45C-7D01-4C0C-A216-E78AB232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819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BCF11-8D72-40C9-B73D-D38EE6CE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 중요한 기회는 ‘의견 교환’ 단계지만, 아직 수치 점수는 없다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21105-7920-4022-8A8D-E002C873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6B699-38E5-4BF7-A58E-42452D6D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docs/07-cjm-opportunity-score.md · docs/01-team-brief.md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41C5D-0C8D-4182-9E20-8AD7CB8A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20C2C-17EC-4AAA-B160-8AD7E08A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4668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EFD84-9416-49A3-9F6A-5FB2CDF0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85A80-9FB3-4B37-8925-EA0DB78D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DA"/>
          </a:solidFill>
          <a:ln xmlns:a="http://schemas.openxmlformats.org/drawingml/2006/main" w="0">
            <a:solidFill>
              <a:srgbClr val="D8E2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410A4-D931-47C8-B87B-60477087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14668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3B334-19CF-43EF-9489-F783EA4C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6253D-8086-4DE7-8A3B-972F2083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764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DA"/>
          </a:solidFill>
          <a:ln xmlns:a="http://schemas.openxmlformats.org/drawingml/2006/main" w="0">
            <a:solidFill>
              <a:srgbClr val="D8E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6964C-3090-4A6C-B921-DD23B248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14668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02601-639B-4698-B5B5-8A75CEBC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17211-8981-453C-B460-FA25CC4D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764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DA"/>
          </a:solidFill>
          <a:ln xmlns:a="http://schemas.openxmlformats.org/drawingml/2006/main" w="0">
            <a:solidFill>
              <a:srgbClr val="D8E2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F9B26-DC61-4317-B1D1-8C9B1545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14668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1EA35-A444-4FE1-8E0A-4409D4D6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145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의견 교환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19C83-D9FB-40C6-B5B2-6AF26058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764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4010D-B677-4C7F-BF37-DBE6032A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14668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D2297-BFCE-44D5-AB4D-C523F3BB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C79CE-B9F5-4FD1-B0A9-D3E2A4FE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764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DA"/>
          </a:solidFill>
          <a:ln xmlns:a="http://schemas.openxmlformats.org/drawingml/2006/main" w="0">
            <a:solidFill>
              <a:srgbClr val="D8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CB275-99A3-4B6C-B90A-84C4DBC5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14668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AEA88-7CBC-4B36-8E2A-04AF0DB8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00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20480F-9B8B-49B4-B8C8-3705F7F0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095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82907-29A7-4D14-B3F0-0271D2E4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53530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654E97-66DE-46B5-A7AE-15497382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7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WHY PRIORITY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769384-F45A-4294-8ED9-10B7822E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6A7F42-4DFE-4B95-9B86-19C1238A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90975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기존 도구로 우회하기 가장 어려운 사람의 문제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CFB3F3-0DA7-40E5-BD70-8C8098E5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67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E8C50A-AB87-48E1-AD5B-452BF15C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4340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‘그냥 별로’가 선택 근거로 이어지지 않는 구간 [추론]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CC57B3-F37A-4C93-A7D7-E4147D6B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E525E2-70A7-48B4-B164-B43FB02A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95825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앞 단계의 비교 노력을 다시 탐색으로 되돌릴 수 있음 [추론]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7179AB-B886-44D6-AF87-6D6B578A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31432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1AB8B2-204D-40D3-B67A-90D606C9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Opportunity Score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EC0983-FE00-45C8-9BC3-47A8DAD3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8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Importance +</a:t>
            </a:r>
          </a:p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max(Importance − Satisfaction, 0)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390492-B588-46F1-A708-1A66B311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미측정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ABDD4A-D484-466F-B6DD-B391E43A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577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중요도·만족도 원자료 없음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49020E-C890-4328-BDCB-86229642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0"/>
            <a:ext cx="933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수치 TBD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BC2BF7-2965-4BE7-A672-6C6CE96F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576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OS ≥ 12 적용 여부는</a:t>
            </a:r>
          </a:p>
          <a:p xmlns:a="http://schemas.openxmlformats.org/drawingml/2006/main">
            <a:pPr algn="ctr"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추후 조사 후 판단</a:t>
            </a:r>
          </a:p>
        </p:txBody>
      </p:sp>
    </p:spTree>
    <p:extLst>
      <p:ext uri="{BB962C8B-B14F-4D97-AF65-F5344CB8AC3E}">
        <p14:creationId xmlns:p14="http://schemas.microsoft.com/office/powerpoint/2010/main" val="18855423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9F2BA1-E2ED-4EF9-A5BE-AD7292B8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219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E665E-3D10-47DB-A3DF-EFEA3E74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확인된 것은 반복 비교와 조건 충돌이며, ‘지연 인과’는 비어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0C1C7-61BF-47BD-A13F-FD6032AA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32529-C406-48A6-A08B-ED4DE95C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docs/03-evidence-log.md F1·F3·F26~F28 · docs/02-hypotheses.md H2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C004D-49ED-49B5-8464-8628DD1E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BC484-4D12-4EDA-9E71-35A2DE74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219450" cy="2305050"/>
          </a:xfrm>
          <a:prstGeom xmlns:a="http://schemas.openxmlformats.org/drawingml/2006/main" prst="roundRect">
            <a:avLst>
              <a:gd name="adj" fmla="val 57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CE6F1-4AF2-4D8F-9F19-0F03F3DF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03016-7662-45A8-BB87-E773363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184BA-C584-49F8-8916-16E75851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2.5개월 · 4.1곳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C290F-20E5-435E-B864-D16812EC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당근부동산 2026 · n=971 · 전세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8C864-CEDE-4B67-8E2C-6317DEDD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여부 미측정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70D86-0F58-4878-BF77-54AF35AA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3219450" cy="2305050"/>
          </a:xfrm>
          <a:prstGeom xmlns:a="http://schemas.openxmlformats.org/drawingml/2006/main" prst="roundRect">
            <a:avLst>
              <a:gd name="adj" fmla="val 57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53DE6-1DD3-44E9-AF0C-E01A12DA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1E919-25EC-490E-89DC-15626FE0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288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파트너 조건 충돌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0C338-50DA-420C-83E3-F39F3F29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2890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77%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2B158-A303-4B4B-811D-A7F5A56E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81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 2020 · 파트너와 구매 중 다툼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E8991-D1E5-41E5-8B52-9CBBFD33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미국·매매 · 표본 크기 미확인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0DF56-D82A-4E1B-83FA-3E12808D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57350"/>
            <a:ext cx="3219450" cy="2305050"/>
          </a:xfrm>
          <a:prstGeom xmlns:a="http://schemas.openxmlformats.org/drawingml/2006/main" prst="roundRect">
            <a:avLst>
              <a:gd name="adj" fmla="val 57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99D17-48CD-46C3-979C-B9C14961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존재 증명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59FAA-EB9A-40AB-8885-664079D0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도구의 존재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4339B-9317-4A6F-B07B-E8F8212E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2890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초대 앱 3종 · TwoKeys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00220-F145-46B4-94A1-4DCD20D5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81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참여·평가 형태의 존재 증명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B8EB6-1C25-4BFE-910C-21B36DF9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576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수락률·성과 비공개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04837-11DE-46B6-91CB-3B0F7A49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4381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1CCC59-00BB-48A3-B83B-AE4A27F1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충돌은 존재한다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01A77-5286-4EFD-AB67-1BB43358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H2-b-1 [확인]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0D588E-9519-4F7F-AE69-5E12EB9B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86325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2415D"/>
            </a:solidFill>
            <a:prstDash val="dash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D125D9-EB54-4C96-933A-4881D2F8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6247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786A80-6BE8-418A-B2FA-79196E2F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33875"/>
            <a:ext cx="4476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9525">
            <a:solidFill>
              <a:srgbClr val="C2415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7CF0F5-2567-45D7-A439-E00A87B0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미검증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D2ACFA-651B-40B7-8255-60F96825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05325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충돌 때문에 결정이 지연된다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DB5A3D-A42D-42EF-9F98-9FE81298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05400"/>
            <a:ext cx="396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H2-b-2 · 직접 근거 미발견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C29985-4B43-46A1-B635-59D676FE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816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반대 신호: Zillow 응답자의 60%는 ‘결국 상관없었다’고 회고</a:t>
            </a:r>
          </a:p>
        </p:txBody>
      </p:sp>
    </p:spTree>
    <p:extLst>
      <p:ext uri="{BB962C8B-B14F-4D97-AF65-F5344CB8AC3E}">
        <p14:creationId xmlns:p14="http://schemas.microsoft.com/office/powerpoint/2010/main" val="9030374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9F2A5-5212-4C5B-811A-9AEFFA16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104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00254-6B31-4916-9E61-0F98CC4D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96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우리가 풀 문제는 정보 수집이 아니라 ‘두 사람의 기준 차이를 설명하는 일’이다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948CF-E560-4B28-B899-D364CD9A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8C27F-8B09-4560-84BA-A05EBBDD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§1 · docs/02-hypotheses.md H2 · PRD §6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0A061-BC14-48F9-8ADB-E87000A7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9B808-EDE4-4F64-A34E-F2A73206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409575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E7456-B018-4427-BB04-404215B3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9715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정보의 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A0599-4728-4184-AFB3-A48C7F21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정보 분산 → 수동 비교 → 의사결정 비용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623F9-A8C6-4092-A875-D99901FB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혼자 구해도 발생 · 기록/공유 도구가 일부 해결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31E42-6BF9-4BAD-B84C-8A6443B1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409575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83332-02D2-4EE7-9FB5-E19D3A6C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24275"/>
            <a:ext cx="1638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 문제 · 제품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D2986-BF62-4D41-ADF5-F6485225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 조건 → 충돌 → 누가 무엇을 감수하는지 불명확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ECF58-81EA-40C6-B9FA-9546FF3C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두 사람이 함께 결정할 때 생기는 추가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006E3-3031-4DFA-891C-E5F8104E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47925"/>
            <a:ext cx="8191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DA"/>
          </a:solidFill>
          <a:ln xmlns:a="http://schemas.openxmlformats.org/drawingml/2006/main" w="0">
            <a:solidFill>
              <a:srgbClr val="D8E2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7BE29-1B6A-4D12-B020-BE0CC56C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19575"/>
            <a:ext cx="8191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A81A6-D5D2-4035-AC06-C7FE252D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38400"/>
            <a:ext cx="5181600" cy="25527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9B0D8-D2C2-482F-97C2-EF4FF1B3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47950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추론/검증 가설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07C8E-BF8D-42DC-8BC6-759FCCD6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두 갈래가 만나는 지점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49BD9-7B58-46C2-BA89-21A96590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4610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후보를 정하는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의사결정 비용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19A2B-614B-45CB-9314-0E30177F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339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H2-a 반복 비교 [확인]  ·  H2-b-1 충돌 [확인]  ·  H2-b-2 지연 [미검증]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AC9A9-C1C3-45D7-864A-5DFE6F6A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5537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E0627-C8FE-4C4D-924C-9940C3AA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 질문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9E73DC-FC0A-43C5-8FA8-0FA2A059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7687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‘우리 둘에게 가장 좋은 집은?’이 아니라  ‘무엇을 감수하고도 납득할 수 있는 집은?’</a:t>
            </a:r>
          </a:p>
        </p:txBody>
      </p:sp>
    </p:spTree>
    <p:extLst>
      <p:ext uri="{BB962C8B-B14F-4D97-AF65-F5344CB8AC3E}">
        <p14:creationId xmlns:p14="http://schemas.microsoft.com/office/powerpoint/2010/main" val="1081108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64D966-0F79-43E7-BC1C-E21E94DD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9337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SAME DOMAIN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A357A-E109-40F1-B0BB-A25459F5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12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동종 서비스는 저장과 평가는 해도 ‘누가 무엇을 양보하는지’는 가리지 못한다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3666B-0C8F-4227-B53E-752CD99F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692CF-AA99-4223-8898-CA9BDB36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docs/04-benchmarks.md Tier 1·3 · docs/03-evidence-log.md F2·F27·F28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5D20D-8B76-4C53-BF70-04436931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8E84E-A0C4-482D-A2F1-3D5ECB3B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0DBD7-1315-4024-8347-F52F9E31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76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70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E09C6-6E69-4889-A3B8-02DE3DC6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717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2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BEA48-11DE-40CF-BB2D-3E247D0F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1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개인 평가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53298-5CAF-4437-BBA6-06EA53F5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70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070E2-CB40-4981-A892-ECAEAD78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E11A7-DA69-45FC-994F-FAB541DB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1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평가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EEC6E-C340-42C8-BEB4-9939AA4C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76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70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B3715-2BC2-47F1-90E9-9A9C2277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717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2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6FD61-41E3-48B0-939E-B068DF93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1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trade-off 설명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A7456-5E3F-48ED-B49D-A429F56A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76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AC300-FDD3-4AF5-A90F-1893569C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90650"/>
            <a:ext cx="23431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80688-30CD-4EA1-8934-E792B785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621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우리 검증 영역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616A7-BC6C-4674-98DF-BCA9DB73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합산 없이</a:t>
            </a:r>
          </a:p>
          <a:p xmlns:a="http://schemas.openxmlformats.org/drawingml/2006/main"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주체를 설명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7CC82-4188-4470-B128-271D061C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부동산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81537-BA16-4884-809A-57E7549C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탐색·상세·관심매물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7902C-6283-4F7F-AD9F-8C4DF193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기존 후보·데이터 사용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C26BE-97EF-4C97-B881-73834850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289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판정은 기회 구간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2453C-F87F-4722-B0FF-4DF13D9B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70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1FDA89-363B-4929-B789-B6E3CF24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04CAB-E8AF-4587-94F6-10B55C22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집노트 등 20개+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37F60-B828-4C33-84E2-4ACF4365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95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개인 체크리스트·채점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0A2F7-3C7C-479B-A381-F3EAB417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957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입력·현장 기록 참고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9ABB8D-F59E-43EB-BF46-AE50133E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대부분 1인·총점·단방향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A441B6-55A6-462F-B852-3D6A403E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70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94AE97-5D13-4F71-95C5-1AF9A370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4F49D9-9CC8-48D7-B5C8-5627BAF8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주거비 계산기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FAD6E1-8047-4643-9E17-E90C5399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62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전월세·이자·기회비용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1195D2-CCAE-4D6F-A9D4-BF3963CA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624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보조 재료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221F92-58F7-4C21-8B1E-6153B862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결정 기능 아님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AC4E49-271A-4691-8C7B-3E064A1C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62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70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60CA7C-E9B6-4BD6-915E-4255DE60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3EAAF9-377A-43AB-8EDC-8FC22A15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TwoKeys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ADBAB6-5850-41F7-991C-8072EF89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29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평가·total rating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7802E4-363E-40B2-83FF-316FFD12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292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공동 평가 형태 존재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6F7E0A-6A5E-4C89-9E01-8D6203FF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조건을 매물에 저장·합산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A465AD-6295-4E9C-BBE2-8D77407C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58D4B3-F68A-47C3-BD75-6E853C13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6F06CE-971E-4F00-B034-8C1D5431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19750"/>
            <a:ext cx="1047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존재 증명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CD5D55-7A8F-4FC2-8298-5F8191C5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서비스 존재 ≠ 국내 수요·초대 수락·효과 검증</a:t>
            </a:r>
          </a:p>
        </p:txBody>
      </p:sp>
    </p:spTree>
    <p:extLst>
      <p:ext uri="{BB962C8B-B14F-4D97-AF65-F5344CB8AC3E}">
        <p14:creationId xmlns:p14="http://schemas.microsoft.com/office/powerpoint/2010/main" val="13079327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C950D5-4862-4A85-80FF-1251CE7B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590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ADJACENT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62F7C-24B1-4CA0-9EF3-27A484FB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인접 서비스에서 가져올 것은 기능이 아니라 참여를 만드는 메커니즘이다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05013-172E-4E2C-AB5F-181D799F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FB905-1618-49D4-88A8-60FDF596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docs/04-benchmarks.md · docs/02-hypotheses.md H1 · docs/03-evidence-log.md F3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0A284-4D6F-4B29-9E4D-42EF89B2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60776-CD11-44E9-B1C8-CF83CCA2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23241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2F28F-9A4E-4967-8471-7304E49D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E41F2-04DB-45DC-88AC-AAE56AF7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192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5F28B-5E5C-4632-9FD9-07F2F88C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95450"/>
            <a:ext cx="23241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6CB0D-F3C3-4F35-A468-E54FAD53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80C53-95B8-43D5-9FA4-E8091EFB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192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598BC-FFC8-4AB0-8771-0F2AE5A2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95450"/>
            <a:ext cx="23241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55B35-B3DC-47BB-A7FA-D2C475E2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6A93D-545A-4B77-B473-C538D046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B34E5-B273-4E44-BB18-2787A70A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95450"/>
            <a:ext cx="23241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56602-ACEB-43B9-914D-ABB7CB15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907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B82E6-3B8C-4E61-86BA-D5A3B245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특별시·웨딩노트·MarryNote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1A1A0-2B12-4922-9CB8-7B580717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파트너 연결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1AB80-81B5-4A07-887A-61C2A570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2인 초대의 존재 증명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B78AEA-84DB-401D-9816-1436292F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 비공개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654C60-3372-4E95-9579-394B969F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AAA7B-1489-47A7-9DFC-CB0C3AAA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위밋플레이스·모이삼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0D5D88-2308-4B86-A75D-F172E4F4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67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 출발지 → 결과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1B91C-309D-4E0A-9AB5-3810F1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 후 최소 입력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F9FBA-06CC-4913-BC93-A2F297EA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67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집은 단일 최적점 아님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C08FE6-DD53-4A4E-AA5C-19873828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35661C-F174-4830-B667-38C8E868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Cozymate·한집친구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A1325D-BA00-408A-947A-CD6672ED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76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룸메이트 조건·성향 입력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AB8013-2666-4970-9CFB-12524789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766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입력 부담 참고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27188D-8D6C-4A14-890B-0D9D36C0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76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판정 조건과 다름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5A6BC5-C473-42BE-BBD3-2DD8B322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4C65D2-5FFC-4B28-AED4-09176724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바로계산·EZB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7AEE07-2763-4615-8DCC-314D8961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86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월·기간 기준 주거비 환산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B3F430-7BA5-4756-8A42-27930082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근거 구조화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878635-FC3F-42DC-9FCB-E8B330F8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86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 조언 아님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CDA3F9-9111-427C-AB06-3CF7779F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C954AA-E002-4DF2-A2F6-7E61CEFB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Airbnb·Doodle·Wanderlog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9EC1E7-7425-425B-BE23-2A5A3B6C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저장·선호·참여 상태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3399ED-EE8B-44F4-88E5-2C9AE464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958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관리와 참여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E226E7-FFD4-4694-A8FA-8FE27C4D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투표·순위는 그대로 못 옮김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8A07A6-7051-402D-8B20-5BD51E35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1B35D0-9E61-49DA-8340-315B705A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4013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087569-5FB5-46BB-9021-EC9A0B90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전이 기준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47EFA9-1743-45A0-86C2-FCBB1D5C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340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어떤 마찰을 어떤 방식으로 줄였는지 분해한다 — 서비스의 ‘하나의 정답’은 가져오지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7090835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7D0965-B0A8-4551-9CF9-61F2D8E3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3276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CROSS INDUSTRY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C8668-E38E-413E-973A-EBC79840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교차산업의 핵심 교훈은 ‘집계보다 균형 있는 비교’다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04EE8-5635-4659-A660-53930035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6419-0B52-4547-BF09-BDA03C08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docs/05-tradeoff-patterns.md · docs/03-evidence-log.md F8~F11 · DOI 10.1177/0272989X211021397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19A93-F89C-46E4-89AA-C2A48724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94E8-D327-441E-85E4-697B5407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85775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23E66-8315-4B09-A455-E5D487D9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ORIGINAL · OPTION GRID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17635-C43F-4259-B34E-6C324E19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옵션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F2483-95D2-4C90-A3F5-2ED1BF47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86050"/>
            <a:ext cx="12573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7C5DB-C1A2-4B1B-A60F-EA5424CB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622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44210-6422-46D4-BCD7-916CC55F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86050"/>
            <a:ext cx="12573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B6166-1C60-46A6-AD4D-3688A2D6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622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34320-9D4D-4E1F-B035-0571F57C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DF759-A8D6-4827-AD8C-34252D51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242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0EBE8-1711-4B1F-96CE-82CE4C9B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242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B1553-EDA1-44B0-867F-8DFB0928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거리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6C898-3506-4393-9356-690969ED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814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D2A3C-852B-46AF-90B5-46E65DE2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814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67B31-7D86-4741-8C82-5FBB2DB9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9F34A-D9AF-4BA8-9DF2-08D4140A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386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D5D76-AD19-41D9-9E76-442E7B62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386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99169C-5319-4C5B-968E-95D61472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BC1DE-D4DA-4E15-9FF5-FD3EF111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958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C2837E-65D7-4B91-A03F-17149B22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958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8B2E9-FC95-497D-8F19-89886AA7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40개 연구 중 28개가 side-by-side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11A011-988F-45D8-BC59-9DF8398A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균형 인식 70~96% · 부동산 효과 전이는 추론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4F7507-7B0C-493D-9A97-F8F2CCFD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86125"/>
            <a:ext cx="685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49B4C3-758D-42A3-A286-A0B3A2BA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67125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형식·균형</a:t>
            </a:r>
          </a:p>
          <a:p xmlns:a="http://schemas.openxmlformats.org/drawingml/2006/main"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원칙만 전이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C3EB5B-03E7-4A36-9D7C-2E20C5E7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19250"/>
            <a:ext cx="485775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143198-6194-4B8C-ADD6-E1C66ACC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38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ADAPTED · JOINT HOUSING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7C1863-3CD1-4517-9283-728994F7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사람 · 행 = 조건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78C86E-BE2E-4903-90D9-6AE4F771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12573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18DC48-FC7B-404D-9612-58E3CA1B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0B0D39-B34B-48E8-A894-1460A6E5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86050"/>
            <a:ext cx="12573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9AA262-66C9-45DB-998A-78D52BF7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622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E68378-416A-4733-A58E-19B93B1E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1240F8-4574-42C4-86D4-6C76F991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242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B3FF5B-6FCC-45C7-86A0-7A0F7723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2816E3-3873-4F52-8C0A-20C42720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242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2853B6-65B8-4E8D-BAB5-4457749A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004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3069CE-49CC-48E9-8871-E201F2BE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195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453F12-1A16-48CF-92FF-23EE7674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CC5B92-77EF-43E6-9AAC-50126828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+13분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6F9C2B-674C-4A0A-84D7-96DE5A95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814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A784B8-DF08-425A-BDA8-D5116389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576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AA7305-D57D-45AE-8447-4F4CA067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7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21EDAB-3E08-478D-9A17-3DA40E77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386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E62D6B-B8C7-47C4-ACCA-B7AE927F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4FE4BF-AE38-404E-98FA-DDA189CB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B8799C-4189-4047-9B78-88BFAA0A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14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29BB87-4ED1-4C65-A36B-79110008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64F5BB-1CC2-4D3B-9945-53495042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958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9D0DCD-704F-40D9-B139-13B6CB4A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B6DD12-BA35-4733-BC9D-288ACA85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95800"/>
            <a:ext cx="12573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B2D0D8-9C2D-42B6-A2E6-CA256715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720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38F044-29DE-4375-B298-39C1922A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763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B9ED2B-2265-4DD4-85D2-DBED3F15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30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총점으로 합치지 않고, ‘한쪽만 충족’을 설명 대상으로 유지한다.</a:t>
            </a:r>
          </a:p>
        </p:txBody>
      </p:sp>
    </p:spTree>
    <p:extLst>
      <p:ext uri="{BB962C8B-B14F-4D97-AF65-F5344CB8AC3E}">
        <p14:creationId xmlns:p14="http://schemas.microsoft.com/office/powerpoint/2010/main" val="8435261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19AD0F-07DE-48E6-9104-40E7CD3B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219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TRANSFER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11769-BB9B-4171-86DB-CCA54A34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전이할 것은 ‘참여·병렬 비교·설명’, 변형할 것은 ‘하나의 답으로 수렴하는 방식’이다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F3BDB-1E38-4BC6-884F-3AB60C9D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03DEE-2DC8-4D2E-A4BE-4D126996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docs/04-benchmarks.md · docs/05-tradeoff-patterns.md · decisions/0001·0003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F509E-946F-428A-A2C7-3D4A773B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D6DE0-843F-4A28-8653-37366E2E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2197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B9E5D-E857-43A5-BDF3-6F25FB38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2197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FA0F6-8CF7-47AE-87ED-9FC95686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723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322D4-27AB-4A97-AC82-598593CC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28800"/>
            <a:ext cx="723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변형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8A72C-9D80-4501-B0D5-528AA2A6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링크 기본·코드 보조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216E0-8748-4017-8392-5ED4240B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 모바일에서 후보 맥락을 먼저 본다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D979D-F7C4-48A1-AC7F-09590760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E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276E5-6F5F-416A-A228-07FE54DA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side-by-side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CAB63-F745-43FE-8905-C2925F13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블록의 크기·순서·손실/이득을 동일하게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4D608-5523-44A7-8E24-C4CBCBBA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E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051B7-448F-490A-BD1F-02E458E8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가치 우선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BBE08-89B1-48FF-ADCF-39D022C4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86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통근 → 추가 필수 → 확인 순서 고정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E8102-5A45-4A9D-B6D7-72893C14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E7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34B31-ECDF-4E02-82B5-AA60FEEE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옵션 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B5541-04C2-4BA0-AF40-B9539124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열=사람, 행=조건으로 바꿔 한 매물의 대가를 비교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8262A-953E-4A40-98C7-B5E18E37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384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9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BDBC9-5729-471E-B202-75D1D60B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단일 결과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BE8F1-A706-42EC-930D-BB56CE6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상태만 설명하고 방문 후보 2개는 사용자가 선택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ED5CE-4210-4E40-B5C2-20B6FA8E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9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D84580-4334-4766-A631-16763660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개인 rating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9D43E8-289A-4F85-946E-6627547C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86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조건을 사람에게 저장해 새 매물에 재적용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8A8F6B-FD79-4EA1-9470-867A6C9B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434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9F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8D178F-D910-4283-8057-CDA57FAD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86450"/>
            <a:ext cx="62484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B524BC-9D12-4388-9641-803D4389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626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전이는 화면 복제가 아니라 작동 원리를 결정 단위에 맞게 바꾸는 일</a:t>
            </a:r>
          </a:p>
        </p:txBody>
      </p:sp>
    </p:spTree>
    <p:extLst>
      <p:ext uri="{BB962C8B-B14F-4D97-AF65-F5344CB8AC3E}">
        <p14:creationId xmlns:p14="http://schemas.microsoft.com/office/powerpoint/2010/main" val="6491076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B007EA-28CD-416C-9D7C-CB867C4E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362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TRANSFER · EXCLUDE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7EE99-0446-4E7A-B927-62CF28C7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총점·자동 추천·투표는 결정을 빠르게 보여도 핵심 차이를 지운다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80D27-C58A-4CBB-A2C7-BB90EBDD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741EE-B06E-4DA3-9533-95EC8491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decisions/0001 · decisions/0004 · docs/05-tradeoff-patterns.md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0428E-7450-4F1B-9EF8-0517F8B0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A29A7-0C61-4010-9678-E49DC655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20002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B43C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7A279-D27F-4EC4-8B5C-BF1B7954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145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83점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74F14-F3B8-4807-8611-A583786D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5267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3C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66260-68BC-4A54-A786-5BAB20DF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적합도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57A74-05EC-496C-9779-675B617B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주체가 사라짐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EC967-EC70-4653-80BF-CAED2741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14500"/>
            <a:ext cx="20002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B43C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157C6-E20A-452B-94E6-CAB5C511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145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1위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7BA45-AE5E-4C92-9579-3D52E878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5267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3C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DF851-85EA-4FFE-AE3E-E92EEE88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955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Borda·순위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C49D4-8302-43F6-A384-416B844F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승패 프레임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3BB6B-6F84-425C-A382-788E1B90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20002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B43C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6AB50-3C60-4ADA-8683-94166C3A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145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AI PICK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33624-E072-491D-840E-32DE105D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5267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3C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7E916-0B57-4B16-BC73-6B2D2B03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최적 타협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1144F-DCF6-4AA1-826C-79A997D9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8130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가치 판단을 대행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01A19-A74F-4E94-B22E-0C4F0DBE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47900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6EBD74-1F2A-478F-A1E0-BC943BD2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81150"/>
            <a:ext cx="29718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46364-A653-43A9-A98E-FC98C51E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대신 유지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13BB2-26D0-41C6-BD7C-18252228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288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  예산 충족 · 통근 +13분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7E65D5-B908-4EF8-A707-A5240A81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289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 면적 충족 · 주차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889928-9A58-44BB-90FE-73B0B16B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0990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실제값 · 기준값 · 미달량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6AFC29-7C52-4813-9B08-09890E4A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Least Misery 탈락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407ED3-AC99-4A95-975C-99352A9D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147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한쪽만 충족을 설명 대상으로 유지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778DCE-5D2E-4FB3-8E6C-2F27A05C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FD9441-F9AE-474C-917D-F4CE5A7A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투표·순위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B6456D-C7EF-4B87-8B12-D71AD458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2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각자 2개 선택 → 겹침·분할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7FD7EB-3351-4443-9DDC-DFE1F3AC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ED440D-3739-41C6-936A-627BB749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아이소크론 후보 생성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1B4C9A-A2F9-485A-8829-CF5DAB17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434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출근지는 판정 조건 중 하나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BD78D2-DF5D-4445-BC00-6713B2C2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55EAA1-C43B-4A30-96C1-B4E62CDA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평가적 사진 강조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851AF8-E902-4DFA-9C0B-A67BF6A5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578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식별 수준만 · 노출 범위 TBD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29EE85-B58B-4CD5-9EEF-55AE0A18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98C816-9E32-48FE-9E76-BB2B61E0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00675"/>
            <a:ext cx="914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사진 TBD</a:t>
            </a:r>
          </a:p>
        </p:txBody>
      </p:sp>
    </p:spTree>
    <p:extLst>
      <p:ext uri="{BB962C8B-B14F-4D97-AF65-F5344CB8AC3E}">
        <p14:creationId xmlns:p14="http://schemas.microsoft.com/office/powerpoint/2010/main" val="17644602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52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34129-8F5F-4BC5-865C-827F0753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247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3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VALUE PROPOSITION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13F86-1F38-435F-B164-00B7EBF0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 차이를 보고, 둘이 납득할 방문 후보를 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4D29D-F984-4B21-842D-0F4F4A99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3544F-F7B5-4A0B-8E49-F45A2315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FD0C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BFD0C5"/>
                </a:solidFill>
                <a:latin typeface="Noto Sans KR"/>
                <a:ea typeface="Noto Sans KR"/>
                <a:cs typeface="Noto Sans KR"/>
              </a:rPr>
              <a:t>Source: value-proposition_20260820.md · PRD §7 · docs/11-decision-status.md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B79C0-205B-471E-8B57-B054FD90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6C5CF-3C89-4DED-941D-C836A552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6747F-92D2-4D6A-A0DE-2A8A13FC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14500"/>
            <a:ext cx="91059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 살 집을 구하는 두 사람이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관심매물별 조건 충돌과 양보 지점을 한눈에 확인하고,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서로 납득할 수 있는 방문 후보를 함께 결정하도록 돕는다.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B63D4-F630-4FD3-A1EE-DBACE766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2857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342A"/>
          </a:solidFill>
          <a:ln xmlns:a="http://schemas.openxmlformats.org/drawingml/2006/main" w="9525">
            <a:solidFill>
              <a:srgbClr val="3850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F3016-C615-4064-A23A-42E730D6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조건 충돌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84A18-E9EA-4B5B-9B66-6F77D7C0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006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누구의 무엇이 어긋나는가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C3901-70CD-41F1-8729-C194E4B8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1010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F0B5"/>
          </a:solidFill>
          <a:ln xmlns:a="http://schemas.openxmlformats.org/drawingml/2006/main" w="0">
            <a:solidFill>
              <a:srgbClr val="8DF0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C740E-E3B2-4EEE-8652-335BCBF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2857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94338"/>
          </a:solidFill>
          <a:ln xmlns:a="http://schemas.openxmlformats.org/drawingml/2006/main" w="9525">
            <a:solidFill>
              <a:srgbClr val="3850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B390D-B3A0-4328-9262-4AC9FF98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005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양보 지점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D1A8E-3080-4194-8362-FF4E1D85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006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무엇을 얼마나 감수하는가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C873A-9EEE-4F7C-84C8-FB772008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010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F0B5"/>
          </a:solidFill>
          <a:ln xmlns:a="http://schemas.openxmlformats.org/drawingml/2006/main" w="0">
            <a:solidFill>
              <a:srgbClr val="8DF0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BA7C2-72F1-4E38-B4F3-FBAE876A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2857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342A"/>
          </a:solidFill>
          <a:ln xmlns:a="http://schemas.openxmlformats.org/drawingml/2006/main" w="9525">
            <a:solidFill>
              <a:srgbClr val="3850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D5711-6C55-4E84-BFBA-6CE19785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005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A3ADE-641B-4B9C-96BD-BEF2FC9A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006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알고도 둘이 선택하는가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D2C0A-A37D-404F-A670-8B8B2D8A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Short VP  ·  각자의 조건과 양보 지점을 보고, 함께 보러 갈 집을 정합니다.</a:t>
            </a:r>
          </a:p>
        </p:txBody>
      </p:sp>
    </p:spTree>
    <p:extLst>
      <p:ext uri="{BB962C8B-B14F-4D97-AF65-F5344CB8AC3E}">
        <p14:creationId xmlns:p14="http://schemas.microsoft.com/office/powerpoint/2010/main" val="13898706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F2CBAF-5011-477A-AF63-593373D6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4A5A5-520E-4A0C-97F4-F493ADB6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5개를 ‘정답 1개’가 아니라 ‘방문 후보 2개’로 바꾸는 과정이다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8036A-7342-40C9-962A-BDAD8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F6273-F735-4EAF-A837-4A12415C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docs/11-decision-status.md · docs/08-screen-design.md · decisions/0003·0004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24768-9C87-4C97-A96C-6B254CEC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8310D-530E-4C41-A9A4-6A3FBD42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14350" cy="7048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0ED5D-C8E6-46E7-9281-E8C8472F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3619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27A30-B8A2-47A8-849F-FD3F7CAA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526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4C9C8-60AD-43BD-B173-7B1A71D9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76425"/>
            <a:ext cx="514350" cy="7048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3F084-DCDE-42CF-B0D9-C96CED17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62150"/>
            <a:ext cx="3619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E6A05-F0EF-4350-8597-D4EA7F4C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2669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626CD-402D-4609-A1BA-523F2386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762125"/>
            <a:ext cx="514350" cy="7048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3D4ED-0794-4A68-BF15-5D105D50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847850"/>
            <a:ext cx="3619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4851A-2562-4853-A007-75E20128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1526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E234F-BA68-4660-8C3F-CD3743FF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76425"/>
            <a:ext cx="514350" cy="7048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45693-7654-42E0-A91A-09C44C01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62150"/>
            <a:ext cx="3619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939EB-6F05-4E08-BCFB-8266B481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2669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1BF5C-26B7-4E87-84FD-B26D6873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62125"/>
            <a:ext cx="514350" cy="7048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22D17-D2B6-44EE-95C4-AC21256A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47850"/>
            <a:ext cx="3619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3F965-041F-44E2-8696-AD6394AE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526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C56D8C-FFB0-4BF2-BF5A-CDF4F42A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최대 5개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FBDDB7-08BA-4D51-95BF-D0C0EA51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95500"/>
            <a:ext cx="685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B299C-F435-4FD1-B6AF-F5C806C8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19250"/>
            <a:ext cx="381000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980CC2-9B4A-468E-9DBA-5575250B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09750"/>
            <a:ext cx="1009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EBD065-C339-4F61-B176-FADE54F5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2F9930-385B-4759-9540-1A5F75D3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76475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5B6E7-9E92-4ADF-BEB7-BDA062FB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여부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54E363-FEBC-4A99-A529-D2EBF30C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76475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0DAF73-7AFB-4B7F-B185-2F57C710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717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1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 시 출근지·이동수단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EF7177-9B3B-4ED6-8CE9-52052CD4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24150"/>
            <a:ext cx="339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DC76E4-EBC7-4AF0-92F3-68FCC5D7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76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결과 후  ·  추가 필수 0~4 · 선호 0~3 · 확인 필요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5A28F3-A422-4EC0-8B95-8AFDE0B5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685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0B8F83-D385-4B2D-84B2-4A628C33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19275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AE8B61-E233-4419-90EC-1264FDB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28825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 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7C3DF7-8F95-4A9D-A467-0FF6C4A7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19275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91C9E8-D615-40B1-9F13-1FFD0F78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28825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  <a:p xmlns:a="http://schemas.openxmlformats.org/drawingml/2006/main"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36243F-C9A7-40F0-982C-2DC24F9E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442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62FCFD-800A-4D7C-AFF6-1A93511A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A373F4-1832-45AA-ABF7-74DCB5E3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E77D76-FE09-4A6B-8767-715D900E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 2개 선택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82A662-9310-4A9C-9771-BE02917A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3387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F0B5"/>
          </a:solidFill>
          <a:ln xmlns:a="http://schemas.openxmlformats.org/drawingml/2006/main" w="0">
            <a:solidFill>
              <a:srgbClr val="8DF0B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9C79BB-46C7-46E5-A4A4-D5161647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05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BE76DD-7C93-4052-BCBA-D43C73E7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38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B43626-96A1-4FE7-BBAD-3539BEE5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910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겹치면 확정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68452B-1BDF-49F0-97DC-A01A62A6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3387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F0B5"/>
          </a:solidFill>
          <a:ln xmlns:a="http://schemas.openxmlformats.org/drawingml/2006/main" w="0">
            <a:solidFill>
              <a:srgbClr val="8DF0B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C8448E-62BF-467B-A51E-64B5C6E8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05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9F910E-75D9-45AF-BC62-88418220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38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3A0826-12A2-4848-BF9C-304351AE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910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1개만 겹치면 차이 재비교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7EE6CF-5D8C-4584-B426-FED7896A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3387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F0B5"/>
          </a:solidFill>
          <a:ln xmlns:a="http://schemas.openxmlformats.org/drawingml/2006/main" w="0">
            <a:solidFill>
              <a:srgbClr val="8DF0B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EB09C9-B68D-4D58-BC1F-2BD1C265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05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ED9417-7E6C-44F6-8A0D-808B3F84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38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355B82-69CD-4B0E-8CE9-623DB519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910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최대 2라운드 후 분할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5CA12D-913D-405E-AA58-5F8C6570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339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단계 2  ·  방문 전 중개사 질문  →  방문 후 공통 체크리스트  →  유지·보류·제외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F7E342-ABD4-4906-B875-DC91F340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14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정책 확정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E76D0A-C643-409D-B03D-6E13F96D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911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 안 함 = 통근·교통비 판정 제외 · 비교표에서 행 제거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32BEF3-5BDD-44C8-8224-2960618C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5911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완화는 자동 타협이 아니라 상태 변화 미리보기</a:t>
            </a:r>
          </a:p>
        </p:txBody>
      </p:sp>
    </p:spTree>
    <p:extLst>
      <p:ext uri="{BB962C8B-B14F-4D97-AF65-F5344CB8AC3E}">
        <p14:creationId xmlns:p14="http://schemas.microsoft.com/office/powerpoint/2010/main" val="18037216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2CC129-302C-40D5-B8F1-C4CADE99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133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 · E2E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9FFA2-0C1A-42FD-B8F5-71D38213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초대자의 후보 구성과 수신자의 저마찰 참여를 하나의 판단 흐름으로 잇는다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91336-7C9F-413F-96DF-A63EA688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818B4-82A5-483D-A849-111D74AF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docs/08-screen-design.md · docs/10-data-integration.md · docs/11-decision-status.md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C0496-5B48-4944-95AA-88F28122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57D15-7DF6-41A5-A612-03E545AD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3276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D0350-4B83-4ED0-892F-6F617A76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진입 /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4F802-59EB-4566-8628-74FF26CD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3276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C97CA-3679-4A37-B4B8-A2AE0733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383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 / 분기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13BB5-A194-4B3C-B1E4-128D3218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3276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F172E-1598-4E8E-9F51-04575FED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383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 / 방문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09659-0169-43F4-8CC9-5CB87613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572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ED9D0-469E-4EBD-8234-6D4D73CF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33600"/>
            <a:ext cx="22098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7B12B-CE24-4286-A556-EA090D0A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764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1~5개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D8F6E-1A2D-4C9E-B8A1-66743FE4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43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90010-0B7D-4B5B-A07B-07D1308C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098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추가 조건·초대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8D8CC-84BC-4EDD-9373-04547EC0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33600"/>
            <a:ext cx="22098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4F59D-07D7-4C17-94E6-40D5205B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764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C645A-8564-4DFE-BCFB-7FFEBB5C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43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완화 제안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5F7BA-FCBD-463C-B454-2C9BDA1F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2098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89A731-8DBF-4AF9-B66D-C2CBF70A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764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2개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8DE01B-A3D1-4C4C-BBC4-EB458D40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43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후 기록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23BBF-59B2-463F-9FC1-A3B8DDE4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A3724-E237-46E2-BD06-DBDE6A98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8572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87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385F02-2F84-41F5-AAA7-70266D91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71850"/>
            <a:ext cx="22098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7E81CC-C65F-4539-B85E-63A88A28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14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 객체 초안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D49B7-F3F9-4C66-9E16-2BBD6458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814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 조건 저장·첫 결과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240C76-EECB-4C01-ADA1-BBC6B27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22098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F07C33-07F3-4FFC-B525-16D9CEA6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14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조건별 판정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A114E6-EBFC-4EC4-9530-06290B72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814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문장·0건 분기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075B82-A06F-413E-AB7E-D351CDB1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71850"/>
            <a:ext cx="22098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F0C4B5-EC6B-401C-B26A-929F92A2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14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겹침·최대 2라운드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BD7769-35C5-41C5-893B-D8297602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814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유지·보류·제외 저장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B7CB45-6FD4-41FD-920B-21037467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E701CC-3061-45FD-9B4C-CFB97AB7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8572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3644A4-4C1D-4779-A424-645212F4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10100"/>
            <a:ext cx="22098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8E38BA-9497-4876-B6BA-E4BC6CED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52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후보·A 선호 먼저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3507B2-8DAE-40AF-A796-DAB98296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196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4E2870-EBF9-4922-9F0B-9BA7D717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86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결과 후 로그인 방향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D1D53F-1589-4FC7-A0A5-7480C404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10100"/>
            <a:ext cx="22098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05FDBA-A3E7-4B35-8C91-9EA258B2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52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조건 대조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DF0986-7957-4AA3-B95D-4C16113F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196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확인 필요 검토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AA42B5-09D5-4F80-B75E-C9E8100B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10100"/>
            <a:ext cx="22098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A24D1E-E3DA-4F7A-87CF-5A73D3CB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2개 선택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9467F4-A501-458C-ABA0-1DAA6F6B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196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질문·체크 기록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DE0D60-90B8-4CDD-9547-7D7DE0F1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821FF3-DEB8-4C33-9B34-2DF96200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955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F933C2-76E9-4B0A-ADAB-81E7FF1F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3380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B33553-761F-4B92-BD9C-8BD3432C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9720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A75654-C3AA-426C-8F37-8949DF25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955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F15A9E-016F-412B-842F-2297D890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73380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B23210-040E-46AF-939D-0AD7A169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9720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E00CAF-038B-4361-83D4-A9898A9B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00700"/>
            <a:ext cx="15049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비로그인 정책 TBD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A41ECF-3C43-42F6-9ECF-E008936E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022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B는 조건 입력 전에 후보와 초대 맥락을 먼저 본다.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AF5948-4737-4A3D-A5D0-1BB2B948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19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모든 기능의 비로그인 사용을 확정하지 않음</a:t>
            </a:r>
          </a:p>
        </p:txBody>
      </p:sp>
    </p:spTree>
    <p:extLst>
      <p:ext uri="{BB962C8B-B14F-4D97-AF65-F5344CB8AC3E}">
        <p14:creationId xmlns:p14="http://schemas.microsoft.com/office/powerpoint/2010/main" val="11844551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AD2FEE-BFF0-4D86-AB4F-76DF778D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590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 · CORE MOMENTS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7BFAE-7E28-4FEC-8EC2-8F600B28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핵심 화면은 ‘참여 이유 → 양보 이해 → 남은 한 자리 결정’을 보여준다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2990D-B5CC-4BB2-BFEE-C0C6A0CA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F2B79-8956-464A-B913-E78F11BC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docs/08-screen-design.md · docs/05-tradeoff-patterns.md · PRD §17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7F1C8-59C2-4037-AB7E-C86FF31C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784B3-58C2-40B0-8F3E-E2141C8C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3257550" cy="36766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11153-FD37-4C9A-9D81-18C7FC87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419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31EF5-45A3-41E5-B7AF-E192731B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이유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FDF3F-CFE9-4183-B5F2-41B0E2F2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B-01 · B-02 · B-05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4153C-2DDA-42D4-A1CC-00F888D5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2305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3F3FE-E07C-4010-80E1-69A24D64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19400"/>
            <a:ext cx="1733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3C11B-92AC-4D1E-AFD1-A33EB276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146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5개 + A 선호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A8FA2-B0B3-49BE-B3EF-AF7BAE08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723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 필수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C2019-20C2-4F9F-89F4-ADD6F673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33750"/>
            <a:ext cx="7429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출근 여부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FF756-606C-4815-AF28-4838CFCF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528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출근하는 경우만 출근지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4C938-3B9C-4F17-BBBA-590BF86C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A의 선호를 먼저 보고</a:t>
            </a:r>
          </a:p>
          <a:p xmlns:a="http://schemas.openxmlformats.org/drawingml/2006/main"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DD4AB-4BCB-4AA3-ADF9-BD943942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38300"/>
            <a:ext cx="3257550" cy="36766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A76E6-CE41-4DFF-BCDC-21507822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28800"/>
            <a:ext cx="419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A3EEB-6160-4413-8EF4-766067E5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이해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3F3E9-DE22-402A-9A7C-0FFA19F1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A-14b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D019C-A1BD-43E3-87FD-B12BBB49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28900"/>
            <a:ext cx="2305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C7B118-6DE2-48DE-936B-5D1505EC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38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C5C1BD-1248-4F55-962F-E4B088F0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384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24E56-AED0-4D2B-9AC3-8DC78DBC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38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BB5DB3-39E8-4B7B-8184-3E3FB1E9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385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6CD6C7-EEFB-4447-8632-C3A8EDA1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385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58EDF4-D504-4DC0-B418-146860E8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9095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 통근 13분을 감수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2E269B-F727-4928-BE9E-7FEB1A6A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실제값 &gt; 기준값 · 미달량</a:t>
            </a:r>
          </a:p>
          <a:p xmlns:a="http://schemas.openxmlformats.org/drawingml/2006/main"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 무엇을 얼마나 감수하는지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F2AE18-F974-4DDD-8164-4A9C90BB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38300"/>
            <a:ext cx="3257550" cy="36766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3B9864-F743-49E4-92A6-BEC622EC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419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7D421-118E-4BBA-9957-9EFB2899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남은 한 자리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FEB8C5-0CC3-4256-BCB1-117D6F10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A-16e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CC4B17-2C8E-4C41-9E8E-238B5EE8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305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ED7C68-7B58-451E-9AFC-4853B972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838200" cy="952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22B501-76E0-4316-9939-8BD40709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57500"/>
            <a:ext cx="838200" cy="952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B4C4CB-4E23-491C-AD27-126A0B62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90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30D494-296A-4402-BC77-B67CFCD2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90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3C9859-8165-4061-B388-194051B2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528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4C21D8-8F6E-4639-8CFC-0AF6DB00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528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C75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93C584-EE03-45CE-B358-79578481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052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3E53A0-94FF-42DB-A991-A9354FD1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052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1A8C56-C290-40BF-938A-C7F05C0D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E84E66-BC7F-4B2E-A3E4-6AC80252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576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031B67-3B6C-4C9F-ABE3-C2A60E72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433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총점 행 없음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62A201-7353-4521-8431-68F6271A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9580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이미 겹친 1개는 유지</a:t>
            </a:r>
          </a:p>
          <a:p xmlns:a="http://schemas.openxmlformats.org/drawingml/2006/main"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총점 없는 Option Grid로 재선택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17D0A7-B6E2-45EC-A100-0FCAC1D2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428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A-13b-2 상세 TBD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6F0DF6-3EDB-4A70-824F-F7FADE2E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197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재탐색 필터 제안 화면은 핵심 8장에 포함됐지만 상세 미설계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002E9E-0ACC-4796-A65C-02FE60D6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816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Hero = 사진·추천 배지보다 양보 문장</a:t>
            </a:r>
          </a:p>
        </p:txBody>
      </p:sp>
    </p:spTree>
    <p:extLst>
      <p:ext uri="{BB962C8B-B14F-4D97-AF65-F5344CB8AC3E}">
        <p14:creationId xmlns:p14="http://schemas.microsoft.com/office/powerpoint/2010/main" val="4232359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BA915B-95A0-4E0C-8013-57C47FD2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819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DATA · CONDITION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6AA46-CE74-40C2-8C08-E099CBA1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조건은 사람에게 저장하고, ‘미충족·확인 필요·해당 없음’을 섞지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1ECE8-99B7-49BE-A523-A23FE8DB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041A1-B1A9-4FA8-93E4-1B539E67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docs/11-decision-status.md · docs/09-edge-cases.md · decisions/0003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1D1DE-ACD7-453F-9127-009566CD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62303-006F-436F-A722-04CEE552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521970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F3927-8C01-4886-9357-A6CDBE0B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AAAEC-61DA-4E2A-865A-B5C6823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D63BD-C430-4E16-8AEF-D60D4FEB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193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공통 필수 · 사람마다 상한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7B0DE-5986-47B5-B393-D3F91DE5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8FF80-7FC5-4506-ACA5-6FF8536B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16F0F-D393-42B5-98E6-B443A2EA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432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여부 후 해당자만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942FE-55E1-49DB-B3FD-77590B9C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0E42E-515D-4AAB-BFFD-BA0F4265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추가 필수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B4B14-4A97-4B22-9480-3F0B454C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670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0~4개 · 사용자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ED991-16E5-44B8-A1AB-6ACEDF56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2A7FA-F153-4A62-ACC8-4339D4FE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선호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57D60-6650-4C7A-A75F-D15564F9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909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자유 문장 0~3개 · 판정 안 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66794-E607-4910-9D2D-649E2B71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D9CBA-B18E-43CF-BF21-38CB8DEF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0F047-6DD5-46AC-AD78-BFAEF159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148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전 중개사 질문 · 상한 없음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88A8D3-C817-4868-8D0E-ECB1152C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767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26A3B-A798-4B03-A041-6A78EA44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체크리스트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C80383-264C-4135-955E-CCA4E0FE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387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 공통 · 고르지 않음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024981-9BE2-42BC-87D3-8743CE83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9FEF68-58EA-4FE1-A259-DB823B4B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판정 가능한 6개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1B3D4F-558D-421E-A890-BFE411F2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81625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· 통근시간 · 역 도보 · 전용면적 · 주차 · 매물 유형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E1D45-2694-429F-A3F6-E3F27A12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81150"/>
            <a:ext cx="521970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1D58E2-5F31-4500-A643-1B324781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상태는 서로 다른 의미다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FD1156-8D5B-4B8D-A694-81AF2D32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47900"/>
            <a:ext cx="47625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981B6C-6AB1-495D-9857-1ACEAB78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미충족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AA80DC-2951-4C4C-950F-2DF06CF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33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재봤고 기준에 못 미침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4CAF5C-B78D-4801-A0D4-84A16EF7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실제값·기준값·미달량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286FAA-5500-4266-9DF6-B65BF110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47625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D0B3BD-1903-40F2-BDAC-E0B56AA8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계산 불가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09C0FA-9763-4A8A-93D5-3F507E99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경로/데이터 계산 실패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C14EC8-BB5E-4A16-B182-AC8A5A59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7657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오류 안내 · 미충족 아님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98AE77-45AA-40B6-A4A9-914D547C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47625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A088EC-0DBE-4919-A070-D2109B71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76F29B-BC6A-4664-A6FB-A3DF4DD0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19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데이터로 판정 불가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F5FFB8-62B7-4D44-9B65-9636FA41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952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전 질문 카드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818214-1B73-4DD9-AF91-3394E267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47625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19066E-44EF-4D6E-9E95-E2802D72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해당 없음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802C9E-0667-44A2-813E-244A3E88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잴 대상이 없음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B9CFE8-A69A-4285-990B-1328F49D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6247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행 제거 · 예: 출근 안 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E4D8EE-8ABC-4207-9001-95E0A670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53050"/>
            <a:ext cx="47625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6B3CDE-1AC8-4343-8110-864AB685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00675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 안 함 = 정상 경로 · 통근·교통비 판정 제외</a:t>
            </a:r>
          </a:p>
        </p:txBody>
      </p:sp>
    </p:spTree>
    <p:extLst>
      <p:ext uri="{BB962C8B-B14F-4D97-AF65-F5344CB8AC3E}">
        <p14:creationId xmlns:p14="http://schemas.microsoft.com/office/powerpoint/2010/main" val="13849682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BFF83D-D231-432A-B2F3-CB7330C5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7907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DATA ·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F6DD1-0161-428A-8EB2-D25C864B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시스템은 매물을 복제하지 않고 ‘읽고, 판정하고, 네이버로 돌려보낸다’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5EA59-CA07-4B6C-9E9F-BC3818B6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5686C-2730-4FE4-B029-9C988497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docs/10-data-integration.md · docs/06-cost-model.md · docs/11-decision-status.md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8E9E4-9807-4279-A6BE-55C04451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2BB86-EEA5-417D-A013-3E6A6AE6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31813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F359E-AE4A-4FBE-8420-4B15F723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27F35-F4EB-4586-B222-3D15DC72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부동산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2023E-0622-4E73-AC04-06753B5E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매물 ID·좌표·가격·면적·유형</a:t>
            </a:r>
          </a:p>
          <a:p xmlns:a="http://schemas.openxmlformats.org/drawingml/2006/main"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주차·역 도보·거래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5E9D6-7298-4C2A-ADED-C39004B7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67BD8-974E-4280-9C9E-9E3D5CF8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31813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24095-CC6B-4E66-B22C-C1739286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DECIDE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405F7-AE9A-4BFC-BE8C-F2333090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결정 레이어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ACA61-AD01-4050-BC9E-23B40B5B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사람별 조건 · 후보 묶음</a:t>
            </a:r>
          </a:p>
          <a:p xmlns:a="http://schemas.openxmlformats.org/drawingml/2006/main"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조건별 판정·미달량·양보 문장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E3ED9-61E2-45DF-99DD-869E8550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9080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82AD8-2801-4ECE-A752-1A4CEB0F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1813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55980-FB2B-4C74-9142-19A162EE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RETURN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959AC-BAD7-40D6-A4CE-9A3ADF40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검색 / 방문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33AFA-BE91-4390-B932-6752631D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3845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사용자가 필터를 눌러 재탐색</a:t>
            </a:r>
          </a:p>
          <a:p xmlns:a="http://schemas.openxmlformats.org/drawingml/2006/main"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방문·문의 행동으로 복귀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298BD-9E2D-4A95-8405-CC345D96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임시 조건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424A5-7702-4767-B473-597D5120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719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초대 코드 연결 · 마지막 접근 +30일 삭제 · 로그인 시 이관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3480A-4A6E-44F5-A52D-F334B156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E6E59B-B522-4E31-AADD-AAB4787F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계산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3A201-96A9-4239-9EFA-89C1F365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958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(출근지, 매물 좌표, 이동수단) 캐시 · 출근 안 함은 호출 제외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A248A-5D48-4075-8133-627DCBE9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0FEACF-5A3C-4773-814F-3CEC7CA8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표시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7AE8B8-BB91-4075-AF3B-BE8B68D2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197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기회비용·대출이자·월세·관리비·교통비·초기비용 + 전제·기준일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CA3EC6-31B9-4ABE-A209-5FB1426A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53DD6A-14E2-4F0E-A4E6-4B65186B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71950"/>
            <a:ext cx="1428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내부 의존성 TBD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13D017-C59B-440E-9A96-A85A76FB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339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관심매물 API · 비로그인 열람</a:t>
            </a:r>
          </a:p>
          <a:p xmlns:a="http://schemas.openxmlformats.org/drawingml/2006/main"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검색 count · 필터 파라미터 · 경로 비용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C7DC35-8DA7-4B63-B28B-8FECB24E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8483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사진·설명·중개사 정보는 판정 데이터로 받지 않음 · 네이버 매물 데이터에 write하지 않음</a:t>
            </a:r>
          </a:p>
        </p:txBody>
      </p:sp>
    </p:spTree>
    <p:extLst>
      <p:ext uri="{BB962C8B-B14F-4D97-AF65-F5344CB8AC3E}">
        <p14:creationId xmlns:p14="http://schemas.microsoft.com/office/powerpoint/2010/main" val="14730217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2043CB-240E-4452-A1AB-BDE7235A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05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PURPOSE /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95E5C-7780-45DF-8A13-7B5A3155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PRD 목표는 방문 후보 2개를 ‘근거를 알고’ 정하게 하는 것이다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5099A-B7A4-4542-97DF-B985A2E4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0E2E9-1F70-43BF-B5C4-426103E9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prd_v0.1_20260820_with_AC.md §8·§21·§22 · docs/11-decision-status.md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83581-D515-42CB-A55C-549101FD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CB850-1BFA-46D5-9FE9-93037D21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7442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15A79-DADF-4BED-82F0-89402425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PRODUCT 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C62E1-74F2-4B7B-8086-E7420CAD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14500"/>
            <a:ext cx="832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두 사람이 각 매물의 충족·미달·확인 사항을 이해하고, 자기 판단으로 방문 후보 2개를 정한다.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04E97-21C6-42BA-B9B9-CBE45227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6953250" cy="25908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13C50-24A7-4839-9BE0-2642BC94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771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MVP 단계 1 · 검증 코어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6A917-AE4B-4409-A968-E307197B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D021E-B66A-4AF4-89E6-DBA53519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14725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최대 5개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5903B-6DD2-4DEA-A4D5-FAE3A6AB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0520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3DDDF-832D-4CCA-BC1C-A5658558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필수 + 출근 여부 분기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16BA5-2564-46AF-ABC1-B117173A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3A4B5-9F68-4921-B05C-4A56D8D9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52875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초대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13032-F669-4347-B2E8-8173F6DE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4335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40250-7065-468A-882F-56270825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52875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판정·비용·통근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D0855-4450-4261-9836-357F4631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797AE-538E-4CAB-A216-81AC27F3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91025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문장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7F469-9E53-4535-ADF7-0D10AC8E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8150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D30F8-6C6C-487F-9AB6-0EC2B47C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91025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완화·0건 분기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520017-B4FE-4795-8C35-B92D6C61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153B7-0EF1-4E64-B881-8FEFEE0D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29175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 2개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6EF3EC-1FE9-44BF-A366-45ED7AEC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19400"/>
            <a:ext cx="34861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9FE58-85B8-4760-AE15-31C885F6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9900"/>
            <a:ext cx="1962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MVP 단계 2 · 종료점 완성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6988FA-55B6-4A60-8861-4D649F6A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FT8  방문 전 중개사 질문</a:t>
            </a:r>
          </a:p>
          <a:p xmlns:a="http://schemas.openxmlformats.org/drawingml/2006/main"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FT9  방문 후 체크리스트·유지/보류/제외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D097F4-ABDD-4722-8F46-95F42549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48150"/>
            <a:ext cx="34861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48B7DE-38A2-4AA5-A380-29F1C189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9715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706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NON-GOALS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A4E946-16F9-4D0F-B213-492984D6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새 매물 DB · 독립 검색 · 자동 추천</a:t>
            </a:r>
          </a:p>
          <a:p xmlns:a="http://schemas.openxmlformats.org/drawingml/2006/main"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종합점수 · AI 최종 선택 · 계약/대출 실행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1D7D0A-28FB-4285-AB0E-AB129707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74420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A9726A-59B9-4BBC-900E-8502AEE0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확정 수치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ED6AE8-42C7-487F-A836-635582D9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0547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· 후보 ≤ 5 · 추가 필수 0~4 · 선호 0~3 · 결과 2 · 최대 2라운드</a:t>
            </a:r>
          </a:p>
        </p:txBody>
      </p:sp>
    </p:spTree>
    <p:extLst>
      <p:ext uri="{BB962C8B-B14F-4D97-AF65-F5344CB8AC3E}">
        <p14:creationId xmlns:p14="http://schemas.microsoft.com/office/powerpoint/2010/main" val="10505718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C67B58-D530-453F-9D93-79615202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3619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FUNCTIONAL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B40AD-BC6F-48A1-B2AA-F23C80E1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2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25개 요구사항은 ‘참여 → 조건 → 판정 → trade-off → 결정 → 지속’으로 연결된다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4BAED-9A4D-47B9-9BA6-94440FDD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29975-3C0C-497E-8C22-24DF7176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prd_v0.1_20260820_with_AC.md §16 · docs/11-decision-status.md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BF635-04B6-49B4-B7E0-8EEC01D1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57C4E-CD04-4F0C-B16E-D1CA6DCD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333750" cy="16383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BB264-1C68-4997-90FC-1E361347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00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65E1A-15B4-4058-8503-2BC7FCF6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참여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3DBDC-1163-4CDB-86D4-107AE253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FR-01 · 05~09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80852-299C-4931-94CE-FD8C3384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1~5개 · 링크/코드 · B 맥락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0EA27-6AA7-4022-9E74-3994C644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4315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51EBA-6961-4B2B-850B-1C812EBB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3333750" cy="16383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CD588-13EA-412E-A3E0-9A99C942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90700"/>
            <a:ext cx="400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900EA-32BE-4882-94FD-A169CF7A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71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80338-1885-41A9-8B52-218EDB99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193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FR-02~04 · 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24334-6DFF-4492-9CE2-BBF68D18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6222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필수 · 출근 여부 · 선택 조건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39A4D-C188-443D-8DA9-2B57DCCB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4315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33EBC-67DC-4BA0-B72A-1EBF7E54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19250"/>
            <a:ext cx="3333750" cy="16383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8DCA0-BD51-4B60-99DE-B6D7CD1B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90700"/>
            <a:ext cx="400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82D6F-D47F-4A59-A454-88E5151F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71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18C61-63F5-4B32-941A-9912BC53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193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FR-10~11 · 20~21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EAA0B-447A-4CD4-AB2E-761B0ED5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6222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사람별 충족/미달/확인 · 오류 분리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70BB91-4DB0-4D70-A0DD-D4E3514A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333750" cy="16383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3166B-055D-4121-BD10-03C10CED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400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083C62-3FC3-43EB-BDA0-7C386AE6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trade-off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0D4E9E-DDFD-4BD2-A8BB-7EBF0AF9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FR-12~14 · 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37FAB4-288C-4B6A-A189-CFC9270A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주체·미달량 · A/B 균형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1B8C70-7E2B-44FE-89DF-476E2323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053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AA28A8-402C-4A15-BF21-44163498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81400"/>
            <a:ext cx="3333750" cy="16383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5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52D7C0-607F-4C3E-A187-BC34946C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400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AC898C-A232-4C94-8CD0-BDE04AB3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33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막다른 길·결정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D817EB-9643-4F7F-9558-49A5C4BE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814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FR-15~17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DA8347-B7E1-4EEB-A532-1733E25A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243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0건 분기 · 각자 2개 · 최대 2라운드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A1BE66-3DEB-4B0B-8CA0-849CC63D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053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E0B4D2-274C-4E29-AD1B-96DEB947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3333750" cy="16383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86B8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C61351-6972-4F37-A5A0-17EAF969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52850"/>
            <a:ext cx="400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6B8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3E45E8-B161-45A0-8297-74EBAC6D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33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반복과 종료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4F2886-1467-4D8B-9F55-2FCC4610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814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FR-18~19 · 22~24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E9CED9-EB3F-4A97-9FE7-2FDFB7A2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243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지속 · 소진 · 질문·방문 기록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A4BA78-6BE7-465D-92B2-360A533A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6108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4ADE47-B193-413F-ADB0-D994C661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81675"/>
            <a:ext cx="1015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AI는 비교·설명한다  ·  최종 후보·순위·강제 타협·상대 조건 변경은 사용자가 결정한다</a:t>
            </a:r>
          </a:p>
        </p:txBody>
      </p:sp>
    </p:spTree>
    <p:extLst>
      <p:ext uri="{BB962C8B-B14F-4D97-AF65-F5344CB8AC3E}">
        <p14:creationId xmlns:p14="http://schemas.microsoft.com/office/powerpoint/2010/main" val="150217148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A743E6-7E34-40A4-B717-BF828506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3162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ACCEPTANCE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6C01A-58D0-4E7B-98BF-C0167FC3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56개 AC는 화면 존재보다 ‘판단을 왜곡하지 않는가’를 검수한다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DF753-3219-4ED3-9DEE-C6E2B71C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A5DEB-1702-4DB0-902F-D3BCB9BC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prd_v0.1_20260820_with_AC.md · AC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A7510-F416-45CE-8632-E8A04B8E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FD8AE-A28F-4E67-B646-0660229C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5811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F1E73-A55F-40F2-AD2E-EDE5AFB3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D249A-FE31-41FB-8C55-FED491D7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02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FR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B1CD2-57CB-4150-A72E-21F39C11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600200"/>
            <a:ext cx="15811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0AF9B-122D-4A2D-976B-77222054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14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A8A37-3E30-44BC-A856-F7DD81E3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02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작성 완료 AC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1B13D-F426-4BE6-BA42-B6140001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15811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3FDC1-9726-4A68-B951-F0F7C2E1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741BC-C243-45DE-9630-3CBAA055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02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확정 FR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C2E13-95D6-454D-B631-E9DBB208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15811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9525">
            <a:solidFill>
              <a:srgbClr val="786B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85169-E6E1-4C80-BF24-F80BF06B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27CB3-5D91-44A1-9C66-C12724E0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02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일부 TBD FR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74275-889C-479C-8FCD-DB9AB7A0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876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일부 TBD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68D4A-6EFC-4B93-91C1-C8A17B70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52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FR-07 · 08 · 15 · 16 · 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BA19A-E4E7-4D8E-9DC3-0FBD429C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3333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EC7D2-1EBA-4691-BCA8-1019B6FB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/ 입력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89F8D7-E684-4294-8DA4-C7F3330D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38450"/>
            <a:ext cx="990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FR-01~09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3E228B-47C4-4C35-BFCE-5AB865F1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후보·초대·조건·로그인·1인 빈 경로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EB3DBF-AC5E-4563-858F-C662B88B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3333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DEF0BB-13BA-40D5-BD59-FDFF5050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 / trade-off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53F816-3EA5-416A-AABA-A7FC9599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38450"/>
            <a:ext cx="990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FR-10~16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681100-2058-4EDA-A3A0-9E66EBF7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조건별 판정·양보·완화·0건 분기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2E4184-E233-4F52-89DC-77B8AFB8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3333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B05465-AD8F-465C-B3FB-32006A2F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 / 운영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D5B6E6-186C-487C-B879-46FD4E2C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38450"/>
            <a:ext cx="990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FR-17~25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80ABEE-D7BA-4FC4-BC3C-877CECE0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2개·지속·소진·질문·가드레일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5E7844-7B7A-48E4-974C-35C74B1C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대표 Guardrail AC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BF9463-DBD9-4DE5-ADE3-72E514F2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990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AC-02-03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B14999-A245-4429-BE44-4BD85EA1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67225"/>
            <a:ext cx="931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안 함 → 출근지·이동수단 미요구 · 통근 제외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C43665-923B-4159-B472-4FEF7308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990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AC-10-02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E1F699-9D7B-44F5-A5CE-AFC882C0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81550"/>
            <a:ext cx="931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사람별·조건별 판정 · 공동 총점 미생성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35098C-D66F-4C66-A5D3-99A10B33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990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AC-17-03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772714-805A-4E75-8023-052C16BD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95875"/>
            <a:ext cx="931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0개/2라운드 불일치 → 분할 · 투표·자동선택 금지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13C7F4-86D9-4798-ADE4-8F650EAA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00675"/>
            <a:ext cx="990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AC-20-03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60634A-2B91-47AA-9F06-5B7D2B86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10200"/>
            <a:ext cx="931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안 함 → 해당 없음 · 비교표 통근 행 제거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225189-B983-4BDE-A497-9224144A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990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AC-25-02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983D95-6D97-48B5-AB40-C2706AFC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724525"/>
            <a:ext cx="931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적합도·추천 배지·AI 최종 선택 미표시</a:t>
            </a:r>
          </a:p>
        </p:txBody>
      </p:sp>
    </p:spTree>
    <p:extLst>
      <p:ext uri="{BB962C8B-B14F-4D97-AF65-F5344CB8AC3E}">
        <p14:creationId xmlns:p14="http://schemas.microsoft.com/office/powerpoint/2010/main" val="20935007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57E146-8EAF-4F37-87E5-CCED95C9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3505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VALIDATION · KPI / GUARDRAIL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03EA5-3CF4-45DC-9847-F03350FB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21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성공은 ‘빠른 계약’이 아니라 참여부터 방문 후보 결정까지의 검증으로 측정한다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A1887-C5E4-4E38-87E8-89A6695A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4FC30-2621-4B2F-9C6C-92584C6D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docs/02-hypotheses.md · docs/11-decision-status.md · PRD §23~§24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4558C-24E4-4663-9EBD-86F4F5B2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E05D7-2109-49C9-870A-6A5DDB01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7442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5830B-1A39-4349-A825-D198C951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NORTH STAR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E4BF1-F1EE-43BF-8242-E42BA321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 발송 건 중 7일 안에 ‘보러 갈 집 2개’가 정해진 비율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D72E3-769B-404A-9F10-C095D135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8595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목표값 TBD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23069-61C6-4ECF-9192-FDB92A16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7일 적정성도 첫 측정 후 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30E94-B077-40AD-83DE-3121D2AF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24003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9525">
            <a:solidFill>
              <a:srgbClr val="C241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01B2B-CEF1-4CD0-BCCB-3D8BEADC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8953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8670C-6E78-467E-901A-8EFB6693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진입 → 조건 입력 → 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3342F-8970-43BC-8E70-69432EA2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측정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8769C-13DC-43F3-B1D8-92F097C0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0520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5F9C6-4EEB-45B3-8F24-FCAD5E3E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33700"/>
            <a:ext cx="24003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9525">
            <a:solidFill>
              <a:srgbClr val="C241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54170-3795-476A-BE1E-8E5027EA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0515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H2-b-2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CC89E6-5C48-4B36-93CD-4BF816FB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433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지연 경험 + 원인 분리 인터뷰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0276A-EE3D-4169-AB91-EE3242F7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100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급소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D5EB8-6AEA-4EDA-92AB-B49CD0D6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0520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60368-4C39-4728-B67D-A883CD43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33700"/>
            <a:ext cx="24003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60B92-ACF5-4F01-8DF4-2153EB92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11239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PROTOTYPE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FF11AF-8761-46A5-9B8A-4AE0A2C6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단계 1 코어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C2F92-E8F6-404A-A123-51895864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00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전제 통과 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D44209-BD64-401D-81E9-7EB8F3D4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0520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solidFill>
              <a:srgbClr val="03C7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0F2F7-AEB7-48D8-AF54-D55E842D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33700"/>
            <a:ext cx="24003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DCD59D-AE11-4EBA-A904-EDE5DDFE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05150"/>
            <a:ext cx="8953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H3/H4/H5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048AC-FDB7-41CB-A050-661F8A87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433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입력·신뢰·지속성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04EF31-A41C-4871-A4CF-E2BCF249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100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제품 검증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A03639-3074-47E8-AF85-02E86747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0744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F9932C-D413-48F1-B498-7B4309FD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GUARDRAIL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FD32C4-C824-4313-B5CF-397FFFA0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012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7A1340-95B3-43B3-BC4F-88D6CF11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1012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AI 최종 선택 없음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0A39B2-5668-40DE-BCCE-FE566349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1012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A/B 동일 비중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1FCB03-6A17-44D5-A405-AF28DB8A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1012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오류 ≠ 미충족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84FAE0-7E96-4066-AF6A-AD4CA5CA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1012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동의 없는 조건 변경 없음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9A233F-735B-4040-8F3D-586E8F41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245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성공지표로 쓰지 않음  ·  결정 시간 단축 · 갈등 감소 · 계약 전환 상승 · 탐색 기간 감소</a:t>
            </a:r>
          </a:p>
        </p:txBody>
      </p:sp>
    </p:spTree>
    <p:extLst>
      <p:ext uri="{BB962C8B-B14F-4D97-AF65-F5344CB8AC3E}">
        <p14:creationId xmlns:p14="http://schemas.microsoft.com/office/powerpoint/2010/main" val="186284046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795D6F-A1CB-4917-A1D5-59543D00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A0740-EEEF-40D0-9E87-6A8DF1FD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 큰 리스크는 기능 부족이 아니라 ‘B가 오지 않거나 문제가 다른 가능성’이다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990BC-EAAF-459A-B18F-C5A92C80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64B0E-8C71-4E9F-BC36-8445C129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 §25~§26 · docs/02-hypotheses.md · docs/09-edge-cases.md · docs/10-data-integration.md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DCC57-6D81-4B6E-AE4C-7B268225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CBD73-AAA2-497A-9E5E-D38754C9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553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78429-22BF-4624-A2CF-77FCE005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81175"/>
            <a:ext cx="704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46D1F-2CA0-47E4-8CA4-8C73FF56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430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 초대에 들어오지 않음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513B5-4018-47B8-91DF-094DC987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43075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H1 선행 측정 · 1인 빈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C81B2-CBBB-44F5-AD33-F66E88DD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914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2DC65-BF42-4C31-980E-0466CA29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0553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5F79F-DDBC-4512-B9F9-E7495423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704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76C7F-7C84-4813-88D3-D01BA052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241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충돌이 지연의 주원인이 아님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8E249-6040-43AF-979D-935A99BA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24125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원인 분리 인터뷰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F9EE9-A379-4996-B32A-8FCB39BE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914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39FFE-73F3-4B0A-9F76-9A40CF88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0553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48326-0C51-47F3-B54B-05E43D4E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704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8F7AD-2F93-4EEA-8848-AE743E57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051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입력 부담 · 비용 계산 신뢰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9EF753-A7F4-4813-8B01-B4136E1B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05175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점진적 공개 · 모든 숫자 옆 전제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94DAD-F5E0-4C83-9582-26D8F9CD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914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C8C914-2EEB-4AA1-89DA-31128DDE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553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7D7C4-ECAA-4BED-892B-246E0889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704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3D8DE-C1A9-493F-9AB6-44A4FA87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862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내부 API·비로그인 정책 불가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98ED3D-C1DE-4C9F-A07A-D012A434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86225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확인 전제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9A5E96-398B-4313-856E-469AF93A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33850"/>
            <a:ext cx="647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1AE917-7BA7-4A9C-93FD-38D4436B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553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14041-2DD1-4051-ACC0-A3845B5F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704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706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BD01EE-7991-4755-B137-FCFEABA5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672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소진 · 분할 수용성 · 관계 데이터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FF25E6-4160-4373-9C57-6926AC36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67275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지속 · 사용성 검증 · 출시 전 정책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5521BE-47BD-4B79-A3D5-79DE2601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14900"/>
            <a:ext cx="647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08357-3C48-428C-9387-15A7478B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553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76BE12-3C41-4495-B746-52E2E40A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00725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리스크 우선순위 = 화면 완성도보다 제품 전제와 문제 인과의 불확실성</a:t>
            </a:r>
          </a:p>
        </p:txBody>
      </p:sp>
    </p:spTree>
    <p:extLst>
      <p:ext uri="{BB962C8B-B14F-4D97-AF65-F5344CB8AC3E}">
        <p14:creationId xmlns:p14="http://schemas.microsoft.com/office/powerpoint/2010/main" val="114949060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E289BC-9286-4090-8A16-16777AAF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819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LIMITS · NEXT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77300-5EC8-4461-BC15-E594D1AA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지금 확정할 수 있는 것은 제품 방향이고, 다음 결정은 H1·H2-b-2가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52DE8-E7C8-4946-8E00-6F115D2A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92693-157C-44B8-BF30-9AC19A1B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5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_00_READ_FIRST.md · docs/11-decision-status.md · docs/02-hypotheses.md · docs/03-evidence-log.md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FD680-860D-480E-B171-7326167B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63869-B747-492B-AC55-4A810AD4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33375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3C7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CE159-DA3A-474A-9922-C2DF0F24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CEB59-7FDD-4C59-8F88-2233B664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DC018-4A61-4D01-B0C5-8E15BB50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저장 이후 2인 공동 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A8325-E247-42F7-A8EF-B909FABF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5D6CD-6D99-4474-927C-A7CBD900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조건은 사람에게 저장 · 합산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A6C13-6E07-46A6-94C5-7FBEEE02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2C683-CF68-40D5-99FD-8F6053D5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AI는 설명 · 방문 후보 2개는 사용자가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24E06-56E1-4AA1-B2B8-1C693F53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81150"/>
            <a:ext cx="333375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350E3-9502-40D3-91DB-FFF6CF53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미검증 / 한계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6C57D-FBBD-4F8E-B1F0-733BD6FB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DE737-D159-4550-B4F6-DE842179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H2-b-2 직접 근거 미발견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FA7CF-E07C-4380-8253-E2716908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6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17510-2092-469B-BF4C-8398F382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337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Zillow는 미국·2020·매매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205068-8E38-4220-AF61-B3BE8E76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69704-EC0C-4101-B074-6BCD3DF8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004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국내 초대 수락·효과·내부 API 미확인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B3EA4-260B-4B37-AD4F-F65AC10B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3375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CB167D-291A-4B2E-936E-9893BB3C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결정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D11817-0B57-4CE4-97CC-97FA486E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0E9BDC-AB54-460B-A8AF-034EDD28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1. H1 3단 깔때기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A94A6-BBE8-466C-ADFC-F03A093E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1B83B9-51EC-4CC2-AC79-413265BC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2. H2-b-2 원인 분리 인터뷰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110148-CF72-4DE8-BE85-56134A38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4E9A13-4AC6-465A-8DE8-E8D52F3C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3. 통과 시 단계 1 프로토타입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443E5D-B9CA-4E22-95D1-89FFCCF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610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5231B"/>
          </a:solidFill>
          <a:ln xmlns:a="http://schemas.openxmlformats.org/drawingml/2006/main" w="9525">
            <a:solidFill>
              <a:srgbClr val="15231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231F9-FA65-4CEE-BFB2-7F86CE1D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1003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더 많이 만들기 전에, 2인 참여와 문제 인과부터 확인한다. 통과하면 조건 차이를 설명하는 MVP 단계 1로 간다.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481BD0-0670-409A-8E1E-7E440CF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원본 링크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74F57C-06B0-42B0-AB02-EB5DC7CC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435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IPDAS  https://journals.sagepub.com/doi/full/10.1177/0272989X211021397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1C8FA8-0F90-4501-8629-00F679E4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543550"/>
            <a:ext cx="455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Grid  https://www.ncbi.nlm.nih.gov/pmc/articles/PMC3986464/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79C722-C80A-44EA-A9ED-533C98B6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483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Handoff · decisions · evidence · hypotheses · trade-off patterns · screen design · VP · AC 포함 PRD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B66189-77A8-4641-B577-3949157C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150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 조건과 양보 지점을 보고, 함께 보러 갈 집을 정합니다.</a:t>
            </a:r>
          </a:p>
        </p:txBody>
      </p:sp>
    </p:spTree>
    <p:extLst>
      <p:ext uri="{BB962C8B-B14F-4D97-AF65-F5344CB8AC3E}">
        <p14:creationId xmlns:p14="http://schemas.microsoft.com/office/powerpoint/2010/main" val="302804594"/>
      </p:ext>
    </p:extLst>
  </p:cSld>
</p:sld>
</file>

<file path=ppt/theme/theme1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2026-08-20T07:13:26.4570000Z</dcterms:created>
  <dcterms:modified xsi:type="dcterms:W3CDTF">2026-08-20T07:13:26.4570000Z</dcterms:modified>
</coreProperties>
</file>